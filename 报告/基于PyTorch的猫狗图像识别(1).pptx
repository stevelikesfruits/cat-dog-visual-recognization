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9" r:id="rId7"/>
    <p:sldId id="258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7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0DF"/>
    <a:srgbClr val="E9EAE9"/>
    <a:srgbClr val="E1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苏致远、吴多迅、魏龙飞。今天我们将向大家汇报我们的创新应用课程作业——一个基于PyTorch的猫狗图像识别项目。本次报告将详细介绍我们项目的背景、技术实现、遇到的问题以及最终的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在项目中，我们三人分工明确。苏致远主要负责核心代码的编写，吴多迅负责理论总结和训练流程的开发，魏龙飞则负责前期知识的铺垫和模型训练的参与。我们通过Git进行版本控制，采用分支开发和Pull Request的方式协作，确保了文档和代码的同步推进。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核心功能是，输入一张猫或狗的图片，模型能够输出它的类别以及相应的置信度。我们不仅支持单张图片的预测，还支持对整个文件夹的图片进行批量预测。为了实现这一功能，我们编写了三个核心脚本，分别用于数据下载、模型训练和预测。最终，我们的模型在验证集上达到了84.3%的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猫狗识别作为项目主题，因为它是CNN入门的经典任务。我们的目标不仅仅是完成识别，更重要的是通过这个项目，将课堂上学到的理论知识付诸实践，完整地走一遍从数据到模型再到应用的全流程，并深入理解CNN中各个组件的作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路线可以概括为四个步骤。首先是理论学习，为项目打下坚实的基础。然后是数据准备，包括数据的下载、整理和增强。接着是核心的模型训练阶段，我们构建并训练自己的CNN模型。最后是评估与预测，检验模型性能并实现应用。这四个步骤分别对应我们编写的三个核心脚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始前，我们进行了充分的理论学习。我们回顾了从感知机到深层网络的基本原理，理解了激活函数和损失函数的作用。这些理论知识直接指导了我们的代码实践，例如，我们在网络中使用了BatchNorm层，选择了Adam优化器，并采用交叉熵损失函数，这些都是理论学习的直接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准备是项目成功的关键。我们实现了数据的自动化下载和整理，通过脚本自动将Kaggle上的数据集下载并按8:2的比例划分为训练集和验证集。为了提升模型的泛化能力，我们在训练过程中采用了多种数据增强技术，如随机裁剪、翻转和颜色抖动。最终，我们共使用了约一万张图片进行训练和验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训练阶段，我们选择了Adam作为优化器，学习率初始化为0.001，并使用交叉熵损失函数。我们设置批大小为64，共训练12轮。为了优化训练过程，我们采用了学习率衰减策略，并制定了只保存验证集准确率最高模型的策略，这对于最终模型的性能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过12轮训练，我们的模型表现良好。从训练曲线上可以看到，训练损失持续下降，准确率稳步提升。最终，模型在验证集上的整体准确率达到了84.3%。其中，猫的识别率高达94.5%，而狗的识别率为74.1%，这揭示了一些有趣的问题，我们将在下一部分讨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发现模型存在“偏猫”现象，即对狗的识别率显著低于猫。我们分析这主要是因为狗的品种更多样，类内差异大。同时，我们观察到验证曲线存在震荡，这说明我们的模型还不够稳定。针对这些问题，我们提出了几个改进方向，包括增加训练轮数、使用更复杂的网络如ResNet，以及对狗类数据进行特殊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本次项目，我们认为亮点在于实现了全自动的数据管线，所有代码都可复现，并且手写的网络结构清晰可解释。通过这个项目，我们每个人都收获颇丰，不仅完成了从理论到实践的闭环，更深刻地理解了模型评估的复杂性和团队协作的重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本次项目，我们认为亮点在于实现了全自动的数据管线，所有代码都可复现，并且手写的网络结构清晰可解释。通过这个项目，我们每个人都收获颇丰，不仅完成了从理论到实践的闭环，更深刻地理解了模型评估的复杂性和团队协作的重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.jpeg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.png"/><Relationship Id="rId10" Type="http://schemas.openxmlformats.org/officeDocument/2006/relationships/tags" Target="../tags/tag18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tags" Target="../tags/tag20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8.jpeg"/><Relationship Id="rId2" Type="http://schemas.openxmlformats.org/officeDocument/2006/relationships/tags" Target="../tags/tag19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image" Target="../media/image15.svg"/><Relationship Id="rId10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0.svg"/><Relationship Id="rId14" Type="http://schemas.openxmlformats.org/officeDocument/2006/relationships/image" Target="../media/image29.png"/><Relationship Id="rId13" Type="http://schemas.openxmlformats.org/officeDocument/2006/relationships/image" Target="../media/image28.svg"/><Relationship Id="rId12" Type="http://schemas.openxmlformats.org/officeDocument/2006/relationships/image" Target="../media/image27.png"/><Relationship Id="rId11" Type="http://schemas.openxmlformats.org/officeDocument/2006/relationships/image" Target="../media/image26.svg"/><Relationship Id="rId10" Type="http://schemas.openxmlformats.org/officeDocument/2006/relationships/image" Target="../media/image2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pn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0.png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svg"/><Relationship Id="rId8" Type="http://schemas.openxmlformats.org/officeDocument/2006/relationships/image" Target="../media/image45.png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51.png"/><Relationship Id="rId13" Type="http://schemas.openxmlformats.org/officeDocument/2006/relationships/image" Target="../media/image50.svg"/><Relationship Id="rId12" Type="http://schemas.openxmlformats.org/officeDocument/2006/relationships/image" Target="../media/image49.png"/><Relationship Id="rId11" Type="http://schemas.openxmlformats.org/officeDocument/2006/relationships/image" Target="../media/image48.svg"/><Relationship Id="rId10" Type="http://schemas.openxmlformats.org/officeDocument/2006/relationships/image" Target="../media/image47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8.png"/><Relationship Id="rId7" Type="http://schemas.openxmlformats.org/officeDocument/2006/relationships/image" Target="../media/image57.svg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image" Target="../media/image60.svg"/><Relationship Id="rId6" Type="http://schemas.openxmlformats.org/officeDocument/2006/relationships/image" Target="../media/image59.png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image" Target="../media/image32.svg"/><Relationship Id="rId23" Type="http://schemas.openxmlformats.org/officeDocument/2006/relationships/notesSlide" Target="../notesSlides/notesSlide10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image" Target="../media/image31.png"/><Relationship Id="rId19" Type="http://schemas.openxmlformats.org/officeDocument/2006/relationships/image" Target="../media/image64.svg"/><Relationship Id="rId18" Type="http://schemas.openxmlformats.org/officeDocument/2006/relationships/image" Target="../media/image63.png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image" Target="../media/image62.svg"/><Relationship Id="rId12" Type="http://schemas.openxmlformats.org/officeDocument/2006/relationships/image" Target="../media/image61.png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5.jpe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59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基于PyTorch的猫狗图像识别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11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创新应用作业课程报告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42545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206500" y="44196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汇报小组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206500" y="4851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苏致远 / 吴多迅 / 魏龙飞</a:t>
            </a:r>
            <a:endParaRPr lang="en-US" sz="1800" b="1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4445000" y="42545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4635500" y="44196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专业与学院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635500" y="4851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zh-CN" alt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计算机科学与技术学院</a:t>
            </a:r>
            <a:endParaRPr lang="zh-CN" altLang="en-US" sz="1800" b="1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</a:t>
            </a:r>
            <a:r>
              <a:rPr lang="zh-CN" alt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</a:t>
            </a:r>
            <a:endParaRPr lang="zh-CN" altLang="en-US" sz="1800" b="1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874000" y="42545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8064500" y="44196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报告日期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8064500" y="4851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2026年8月15日</a:t>
            </a:r>
            <a:endParaRPr lang="en-US" sz="1800" b="1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rcRect l="254" r="254"/>
          <a:stretch>
            <a:fillRect/>
          </a:stretch>
        </p:blipFill>
        <p:spPr>
          <a:xfrm>
            <a:off x="9136380" y="1968500"/>
            <a:ext cx="1397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0800" y="-711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成员分工与量化贡献比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629920" y="1600200"/>
            <a:ext cx="53340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629920" y="1600200"/>
            <a:ext cx="762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833120" y="1663700"/>
            <a:ext cx="5080000" cy="1143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苏致远 (3.3) | 核心</a:t>
            </a:r>
            <a:r>
              <a:rPr lang="zh-CN" alt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</a:t>
            </a: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endParaRPr lang="en-US" sz="1200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独立编写项目核心算法代码，主导技术架构设计；负责最终的代码逻辑讲解与复盘，确保技术方案的严谨性与可落地性。</a:t>
            </a:r>
            <a:endParaRPr lang="en-US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629920" y="3263900"/>
            <a:ext cx="53340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629920" y="3263900"/>
            <a:ext cx="762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33120" y="3327400"/>
            <a:ext cx="5080000" cy="1143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吴多迅 (3.3) | 文档与协同开发</a:t>
            </a:r>
            <a:endParaRPr lang="en-US" sz="1200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撰写详细的理论推导与实践学习摘要，梳理技术文档体系；与苏致远深度协同开发模型训练全流程，保障实验的可复现性。</a:t>
            </a:r>
            <a:endParaRPr lang="en-US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9920" y="4902200"/>
            <a:ext cx="53340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29920" y="4902200"/>
            <a:ext cx="762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33120" y="4965700"/>
            <a:ext cx="5080000" cy="1143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魏龙飞 (3.4) | 基础支持与调参</a:t>
            </a:r>
            <a:endParaRPr lang="en-US" sz="1200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负责前期神经网络基础预备知识的梳理与分享；深度参与模型训练的调参优化环节，协助完成项目摘要的补充与校对。</a:t>
            </a:r>
            <a:endParaRPr lang="en-US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3955" y="1064260"/>
            <a:ext cx="5598795" cy="5188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项目简要介绍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6891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336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支持单张或批量输入猫狗图片，模型自动输出精确的类别判定结果与置信度百分比，实现高效、轻量化的图像分类推理。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276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自动化脚本工具集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7211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</a:t>
            </a:r>
            <a:r>
              <a:rPr lang="en-US" sz="1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download_data.py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自动拉取数据集；</a:t>
            </a:r>
            <a:r>
              <a:rPr lang="en-US" sz="1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train.py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完成模型训练与曲线绘制；</a:t>
            </a:r>
            <a:r>
              <a:rPr lang="en-US" sz="1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predict.py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实现命令行一键快速推理。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16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9911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模型性能表现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4864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84.3%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验证集总准确率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23618">
            <a:off x="2317750" y="58674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2667000" y="54864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94.5%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猫类别识别率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23618">
            <a:off x="3905250" y="58674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254500" y="54864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74.1%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狗类别识别率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860" y="898525"/>
            <a:ext cx="4940300" cy="5451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3700" y="1699260"/>
            <a:ext cx="2388870" cy="2228215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30225" y="1625600"/>
            <a:ext cx="2304415" cy="236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猫狗识别是计算机视觉领域中卷积神经网络（CNN）入门的经典任务。该任务数据公开、场景直观，能帮助初学者快速理解图像分类的核心逻辑，是深度学习理论与工程实践结合的绝佳切入点。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462788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79171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333500" y="476631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理论落地实践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952500" y="523621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告别纸上谈兵，亲手搭建卷积神经网络结构，将CNN的核心理论转化为可运行的代码，实现从公式到模型的跨越。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4394200" y="460121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84700" y="479171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4965700" y="476631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掌握全流程闭环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4584700" y="523621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完整经历“数据采集清洗→模型架构设计→训练调优→评估预测”的AI项目全生命周期，积累真实的工程经验。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8026400" y="460121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6900" y="479171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597900" y="476631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拆解核心组件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216900" y="523621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深入理解卷积层、池化层、BN层及优化器的作用机制，掌握参数调优对模型性能的关键影响，知其然更知其所以然。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0"/>
          <a:srcRect l="5" r="5"/>
          <a:stretch>
            <a:fillRect/>
          </a:stretch>
        </p:blipFill>
        <p:spPr>
          <a:xfrm>
            <a:off x="3237230" y="1625600"/>
            <a:ext cx="8430260" cy="2352675"/>
          </a:xfrm>
          <a:prstGeom prst="rect">
            <a:avLst/>
          </a:prstGeom>
          <a:noFill/>
          <a:ln w="12700" cap="flat" cmpd="sng">
            <a:solidFill>
              <a:srgbClr val="000000">
                <a:alpha val="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总体方案与技术路线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54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理论学习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夯实深度学习理论基础，掌握CNN特征提取原理、BN层正则化机制，深入理解SGD等优化器的参数更新策略，为模型构建提供理论支撑。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67100" y="1651000"/>
            <a:ext cx="254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0386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数据准备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576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自动化完成Kaggle数据集下载与解压，执行数据清洗与标签整理；通过随机裁剪、翻转等数据增强手段扩充样本，提升模型鲁棒性。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72200" y="1651000"/>
            <a:ext cx="254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437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模型训练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627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构建轻量化CNN网络结构，配置交叉熵损失函数与Adam优化器；在训练集迭代优化，利用验证集监控过拟合，动态保存最优模型权重。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77300" y="1651000"/>
            <a:ext cx="254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184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4488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评估预测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基于测试集计算准确率、混淆矩阵等关键指标；加载最优模型权重，实现对单张或批量图像的快速推理，输出分类结果与置信度。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核心代码脚本映射体系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826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016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501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download_data.py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" y="546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实现数据集的自动化拉取与预处理，完成数据清洗、目录规整及格式转换，构建标准化的数据输入管线，为训练提供高质量数据基础。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81500" y="4826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0" y="5016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016500" y="501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train.py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72000" y="546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模型训练的核心入口，封装网络构建、超参数配置、损失计算与优化器更新逻辑，支持断点续训与实时性能监控，自动归档最优模型。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01000" y="4826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91500" y="5016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636000" y="501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predict.py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191500" y="546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加载预训练权重进行推理，处理输入图像数据，快速输出分类结果与置信度，适配线上部署、API调用及批量数据预测的实际应用场景。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理论基础与前置学习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0556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核心理论储备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4056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93800" y="194056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从感知机演进至深层网络，深入理解前向传播的信号传递机制与反向传播的梯度优化逻辑，夯实网络训练基础。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76606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93800" y="276606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剖析ReLU、Sigmoid等非线性激活函数的特性，理解其如何赋予网络拟合复杂非线性映射的能力。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59156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93800" y="359156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明确损失函数的选择依据：分类任务首选交叉熵损失，回归任务侧重MSE，确保损失函数与任务目标匹配。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48056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理论与代码的实战映射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52060"/>
            <a:ext cx="2603500" cy="114046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9000" y="5153660"/>
            <a:ext cx="2413000" cy="977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网络优化与初始化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BatchNorm 加速收敛，采用 PyTorch 默认的 MSRA 初始化策略稳定训练。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492500" y="5052060"/>
            <a:ext cx="2603500" cy="114046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619500" y="5153660"/>
            <a:ext cx="2413000" cy="977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优化器与损失配置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Adam 优化器结合动量机制，配合交叉熵损失函数处理分类问题。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143000"/>
            <a:ext cx="5601970" cy="46494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数据准备与工程化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41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自动化获取与规整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114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kagglehub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实现数据集一键拉取，无需繁琐的手动注册与授权。脚本自动解析文件名完成猫狗分类，并按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8:2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比例智能划分训练集与验证集，全流程零人工干预。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56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动态数据增强策略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259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训练阶段引入多样化增强：随机裁剪缩放（0.7~1.0倍）、随机水平翻转及颜色抖动（亮度/对比度动态调整），有效提升模型对不同视角、光照条件的泛化能力，防止过拟合。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270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最终数据集规模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7404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猫狗样本数量均衡分布：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 5011 张 / 狗 5017 张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。充足且均衡的数据量为模型训练提供了坚实基础，确保了分类任务的准确性与稳定性。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651000"/>
            <a:ext cx="5207000" cy="4889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1651000"/>
            <a:ext cx="5207000" cy="4826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17399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download_data.py</a:t>
            </a:r>
            <a:endParaRPr lang="en-US" sz="11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175" y="2247900"/>
            <a:ext cx="4693285" cy="4159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训练配置与策略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76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核心超参数设定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225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1844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Adam 优化器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lr=1e-3 | 权重衰减 1e-4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5500" y="2222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83000" y="21844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交叉熵损失函数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适配多分类场景，梯度稳定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984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29464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 Size: 64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平衡显存负载与收敛速度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5500" y="2984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683000" y="29464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总轮次: 12 Epochs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单轮40s，总计约8.5分钟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4089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动态训练与保存策略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635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70000" y="45974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自适应学习率衰减 (ReduceLROnPlateau)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验证损失停滞时自动减半，有效跳出局部最优，提升模型泛化能力。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397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70000" y="53594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最优模型快照留存机制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仅保留验证集准确率最高的权重，而非最后一轮，确保上线性能最优。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524000"/>
            <a:ext cx="5207000" cy="4508500"/>
          </a:xfrm>
          <a:prstGeom prst="roundRect">
            <a:avLst>
              <a:gd name="adj" fmla="val 0"/>
            </a:avLst>
          </a:prstGeom>
          <a:solidFill>
            <a:srgbClr val="23272E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1524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FF8C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1600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▶ 训练启动脚本示例 (train.py)</a:t>
            </a:r>
            <a:endParaRPr lang="en-US" sz="11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3500" y="2057400"/>
            <a:ext cx="4826000" cy="387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训练结果与曲线分析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84785" y="1665605"/>
            <a:ext cx="6201410" cy="2543175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47625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4953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Loss 显著收敛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从初始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0.65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降至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0.37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模型学习效率符合预期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65500" y="47625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4953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准确率稳步提升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从初始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62%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升至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84%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模型泛化能力逐步增强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24320" y="18313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8320" y="219964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513320" y="199644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验证集整体准确率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84.3%  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(样本数: 1692 / 2007)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624320" y="32918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8320" y="366014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513320" y="345694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猫类识别准确率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94.5%  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(样本数: 948 / 1003)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624320" y="47523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8320" y="512064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513320" y="491744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犬类识别准确率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74.1%  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(样本数: 744 / 1004)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95696485" name="图片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098" y="1731963"/>
            <a:ext cx="6026785" cy="241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问题发现与改进方向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偏猫现象：识别率失衡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核心原因在于狗品种间的类内差异显著高于猫，且现有模型保存策略以“总准确率”为单一指标，天然对特征更集中的猫类存在偏向性，导致模型对犬类特征学习不足。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12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验证曲线震荡：收敛不稳定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35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第10轮性能回升并在第12轮达到峰值，随后出现小幅波动。这是小模型架构配合固定学习率的典型特征，直接印证了采用“保存最优模型”而非“最后模型”策略的必要性。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651000"/>
            <a:ext cx="5080000" cy="2095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193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模型验证准确率趋势（Epoch 1-20）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5400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图示：验证集准确率在训练中期出现明显震荡，第12轮达到局部最优，第15轮后趋于平缓。该现象表明模型仍有优化潜力，需调整训练策略以增强稳定性。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4"/>
            </p:custDataLst>
          </p:nvPr>
        </p:nvSpPr>
        <p:spPr>
          <a:xfrm>
            <a:off x="6350000" y="4064000"/>
            <a:ext cx="1600200" cy="215011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2400" y="425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8"/>
            </p:custDataLst>
          </p:nvPr>
        </p:nvSpPr>
        <p:spPr>
          <a:xfrm>
            <a:off x="6502400" y="4699000"/>
            <a:ext cx="139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增加训练轮数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9"/>
            </p:custDataLst>
          </p:nvPr>
        </p:nvSpPr>
        <p:spPr>
          <a:xfrm>
            <a:off x="6502400" y="5143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延长训练周期，确保模型特征提取充分，减少因过早停止导致的欠拟合风险。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0"/>
            </p:custDataLst>
          </p:nvPr>
        </p:nvSpPr>
        <p:spPr>
          <a:xfrm>
            <a:off x="8089900" y="4064000"/>
            <a:ext cx="1600200" cy="2150745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42300" y="425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14"/>
            </p:custDataLst>
          </p:nvPr>
        </p:nvSpPr>
        <p:spPr>
          <a:xfrm>
            <a:off x="8242300" y="4699000"/>
            <a:ext cx="139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升级网络架构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15"/>
            </p:custDataLst>
          </p:nvPr>
        </p:nvSpPr>
        <p:spPr>
          <a:xfrm>
            <a:off x="8242300" y="5143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引入ResNet等深层网络或迁移学习，提升模型对复杂特征的捕捉能力。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16"/>
            </p:custDataLst>
          </p:nvPr>
        </p:nvSpPr>
        <p:spPr>
          <a:xfrm>
            <a:off x="9779000" y="4063365"/>
            <a:ext cx="1600200" cy="215138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82200" y="4254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20"/>
            </p:custDataLst>
          </p:nvPr>
        </p:nvSpPr>
        <p:spPr>
          <a:xfrm>
            <a:off x="9982200" y="4699000"/>
            <a:ext cx="139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数据增强重采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21"/>
            </p:custDataLst>
          </p:nvPr>
        </p:nvSpPr>
        <p:spPr>
          <a:xfrm>
            <a:off x="9982200" y="5143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针对狗类样本进行针对性的数据增强与重采样，平衡类别间的数据分布。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项目总结与学习收获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5880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72974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项目亮点回顾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016000" y="2199640"/>
            <a:ext cx="514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自动化与可复现：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搭建全自动数据管线，实现环境与结果一键复现，极大降低试错成本。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透明化模型：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纯手写网络结构，拒绝黑盒调用，每一层逻辑清晰可解释。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工程与规范：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完善随机种子、结果可视化等细节；严格遵循Git Flow协作规范。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62000" y="4064000"/>
            <a:ext cx="55880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406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016000" y="414274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核心成长与感悟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016000" y="4612640"/>
            <a:ext cx="514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知行合一：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打通“理论推导→代码实现→结果验证”闭环，透彻理解优化器等机制。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评估进阶：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跳出单一指标陷阱，学会关注类别差异与模型的实际鲁棒性。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协作基石：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深刻体会到规范的版本管理与沟通是高效团队研发的关键保障。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rcRect l="104" r="104"/>
          <a:stretch>
            <a:fillRect/>
          </a:stretch>
        </p:blipFill>
        <p:spPr>
          <a:xfrm>
            <a:off x="7048500" y="2095500"/>
            <a:ext cx="4318000" cy="2882900"/>
          </a:xfrm>
          <a:prstGeom prst="roundRect">
            <a:avLst>
              <a:gd name="adj" fmla="val 704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7048500" y="5207000"/>
            <a:ext cx="4318000" cy="889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75500" y="5359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保持对技术的热爱，像小动物一样永远充满好奇与活力。”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3"/>
          <p:cNvSpPr/>
          <p:nvPr/>
        </p:nvSpPr>
        <p:spPr>
          <a:xfrm>
            <a:off x="3145790" y="1524000"/>
            <a:ext cx="522224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</a:t>
            </a:r>
            <a:r>
              <a:rPr lang="en-US" altLang="zh-CN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</a:t>
            </a:r>
            <a:r>
              <a:rPr lang="zh-CN" alt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</a:t>
            </a:r>
            <a:r>
              <a:rPr lang="en-US" altLang="zh-CN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</a:t>
            </a:r>
            <a:r>
              <a:rPr lang="zh-CN" alt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聆</a:t>
            </a:r>
            <a:r>
              <a:rPr lang="en-US" altLang="zh-CN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</a:t>
            </a:r>
            <a:r>
              <a:rPr lang="zh-CN" alt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</a:t>
            </a:r>
            <a:endParaRPr lang="zh-CN" altLang="en-US" sz="4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5"/>
          <p:cNvSpPr/>
          <p:nvPr>
            <p:custDataLst>
              <p:tags r:id="rId2"/>
            </p:custDataLst>
          </p:nvPr>
        </p:nvSpPr>
        <p:spPr>
          <a:xfrm>
            <a:off x="1697990" y="299212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>
            <p:custDataLst>
              <p:tags r:id="rId3"/>
            </p:custDataLst>
          </p:nvPr>
        </p:nvSpPr>
        <p:spPr>
          <a:xfrm>
            <a:off x="1888490" y="315722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汇报小组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7"/>
          <p:cNvSpPr/>
          <p:nvPr>
            <p:custDataLst>
              <p:tags r:id="rId4"/>
            </p:custDataLst>
          </p:nvPr>
        </p:nvSpPr>
        <p:spPr>
          <a:xfrm>
            <a:off x="1888490" y="358902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chemeClr val="tx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苏致远 / 吴多迅 / 魏龙飞</a:t>
            </a:r>
            <a:endParaRPr lang="en-US" sz="1800" b="1" i="0" u="none" strike="noStrike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1"/>
          <p:cNvSpPr/>
          <p:nvPr>
            <p:custDataLst>
              <p:tags r:id="rId5"/>
            </p:custDataLst>
          </p:nvPr>
        </p:nvSpPr>
        <p:spPr>
          <a:xfrm>
            <a:off x="6889115" y="299212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12"/>
          <p:cNvSpPr/>
          <p:nvPr>
            <p:custDataLst>
              <p:tags r:id="rId6"/>
            </p:custDataLst>
          </p:nvPr>
        </p:nvSpPr>
        <p:spPr>
          <a:xfrm>
            <a:off x="7079615" y="315722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报告日期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13"/>
          <p:cNvSpPr/>
          <p:nvPr>
            <p:custDataLst>
              <p:tags r:id="rId7"/>
            </p:custDataLst>
          </p:nvPr>
        </p:nvSpPr>
        <p:spPr>
          <a:xfrm>
            <a:off x="7079615" y="358902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chemeClr val="tx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2026年8月15日</a:t>
            </a:r>
            <a:endParaRPr lang="en-US" sz="1800" b="1" i="0" u="none" strike="noStrike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1"/>
          <p:cNvSpPr/>
          <p:nvPr>
            <p:custDataLst>
              <p:tags r:id="rId8"/>
            </p:custDataLst>
          </p:nvPr>
        </p:nvSpPr>
        <p:spPr>
          <a:xfrm>
            <a:off x="1697990" y="4655820"/>
            <a:ext cx="849312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2"/>
          <p:cNvSpPr/>
          <p:nvPr>
            <p:custDataLst>
              <p:tags r:id="rId9"/>
            </p:custDataLst>
          </p:nvPr>
        </p:nvSpPr>
        <p:spPr>
          <a:xfrm>
            <a:off x="1888490" y="4820920"/>
            <a:ext cx="7840345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</a:t>
            </a:r>
            <a:r>
              <a:rPr lang="zh-CN" alt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r>
              <a:rPr lang="zh-CN" alt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endParaRPr lang="zh-CN" alt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3"/>
          <p:cNvSpPr/>
          <p:nvPr>
            <p:custDataLst>
              <p:tags r:id="rId10"/>
            </p:custDataLst>
          </p:nvPr>
        </p:nvSpPr>
        <p:spPr>
          <a:xfrm>
            <a:off x="1888490" y="5252720"/>
            <a:ext cx="751395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altLang="zh-CN" sz="1800" b="1" i="0" u="none" strike="noStrike">
                <a:solidFill>
                  <a:schemeClr val="tx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https://github.com/Stevelikesfruits/Cat-dog-visual-recognization.git</a:t>
            </a:r>
            <a:endParaRPr lang="en-US" altLang="zh-CN" sz="1800" b="1" i="0" u="none" strike="noStrike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2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3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4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5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6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7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8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9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10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1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2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3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4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5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6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7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8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9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0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1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2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3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4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5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6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7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8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9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30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31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2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3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4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5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6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7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8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9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0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1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2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3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44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45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46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47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48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49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0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1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2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3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4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5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6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7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58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59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3043</Words>
  <Application>WPS 演示</Application>
  <PresentationFormat/>
  <Paragraphs>224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cresent</cp:lastModifiedBy>
  <cp:revision>7</cp:revision>
  <dcterms:created xsi:type="dcterms:W3CDTF">2026-08-18T11:12:00Z</dcterms:created>
  <dcterms:modified xsi:type="dcterms:W3CDTF">2026-08-18T15:04:04Z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{"Label":"1","ContentProducer":"001191110102MACQD9K64010000","ProduceID":"7675298500812819743","ReservedCode1":"","ContentPropagator":"","PropagateID":"","ReservedCode2":""}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A95DD3C7FD3B4CF3B221BC53E1BF69A4_13</vt:lpwstr>
  </property>
</Properties>
</file>