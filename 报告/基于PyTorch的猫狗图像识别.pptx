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slideLayouts/slideLayout15.xml" ContentType="application/vnd.openxmlformats-officedocument.presentationml.slideLayout+xml"/>
  <Override PartName="/ppt/theme/theme5.xml" ContentType="application/vnd.openxmlformats-officedocument.theme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slideLayouts/slideLayout17.xml" ContentType="application/vnd.openxmlformats-officedocument.presentationml.slideLayout+xml"/>
  <Override PartName="/ppt/theme/theme7.xml" ContentType="application/vnd.openxmlformats-officedocument.theme+xml"/>
  <Override PartName="/ppt/slideLayouts/slideLayout18.xml" ContentType="application/vnd.openxmlformats-officedocument.presentationml.slideLayout+xml"/>
  <Override PartName="/ppt/theme/theme8.xml" ContentType="application/vnd.openxmlformats-officedocument.theme+xml"/>
  <Override PartName="/ppt/slideLayouts/slideLayout19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1.xml" ContentType="application/vnd.openxmlformats-officedocument.presentationml.notesSlide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31.xml" ContentType="application/vnd.openxmlformats-officedocument.presentationml.tags+xml"/>
  <Override PartName="/ppt/notesSlides/notesSlide8.xml" ContentType="application/vnd.openxmlformats-officedocument.presentationml.notesSlide+xml"/>
  <Override PartName="/ppt/tags/tag32.xml" ContentType="application/vnd.openxmlformats-officedocument.presentationml.tags+xml"/>
  <Override PartName="/ppt/notesSlides/notesSlide9.xml" ContentType="application/vnd.openxmlformats-officedocument.presentationml.notesSlide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notesSlides/notesSlide10.xml" ContentType="application/vnd.openxmlformats-officedocument.presentationml.notesSlide+xml"/>
  <Override PartName="/ppt/tags/tag35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notesSlides/notesSlide16.xml" ContentType="application/vnd.openxmlformats-officedocument.presentationml.notesSlide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notesSlides/notesSlide17.xml" ContentType="application/vnd.openxmlformats-officedocument.presentationml.notesSlide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2"/>
    <p:sldMasterId id="2147483662" r:id="rId3"/>
    <p:sldMasterId id="2147483664" r:id="rId4"/>
    <p:sldMasterId id="2147483666" r:id="rId5"/>
    <p:sldMasterId id="2147483668" r:id="rId6"/>
    <p:sldMasterId id="2147483670" r:id="rId7"/>
    <p:sldMasterId id="2147483672" r:id="rId8"/>
    <p:sldMasterId id="2147483674" r:id="rId9"/>
  </p:sldMasterIdLst>
  <p:notesMasterIdLst>
    <p:notesMasterId r:id="rId28"/>
  </p:notesMasterIdLst>
  <p:sldIdLst>
    <p:sldId id="256" r:id="rId10"/>
    <p:sldId id="259" r:id="rId11"/>
    <p:sldId id="258" r:id="rId12"/>
    <p:sldId id="260" r:id="rId13"/>
    <p:sldId id="261" r:id="rId14"/>
    <p:sldId id="262" r:id="rId15"/>
    <p:sldId id="282" r:id="rId16"/>
    <p:sldId id="281" r:id="rId17"/>
    <p:sldId id="276" r:id="rId18"/>
    <p:sldId id="277" r:id="rId19"/>
    <p:sldId id="278" r:id="rId20"/>
    <p:sldId id="283" r:id="rId21"/>
    <p:sldId id="263" r:id="rId22"/>
    <p:sldId id="265" r:id="rId23"/>
    <p:sldId id="266" r:id="rId24"/>
    <p:sldId id="267" r:id="rId25"/>
    <p:sldId id="268" r:id="rId26"/>
    <p:sldId id="275" r:id="rId2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18" userDrawn="1">
          <p15:clr>
            <a:srgbClr val="747775"/>
          </p15:clr>
        </p15:guide>
        <p15:guide id="2" pos="292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0DF"/>
    <a:srgbClr val="E9EAE9"/>
    <a:srgbClr val="E1E2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21" d="100"/>
          <a:sy n="121" d="100"/>
        </p:scale>
        <p:origin x="288" y="77"/>
      </p:cViewPr>
      <p:guideLst>
        <p:guide orient="horz" pos="1618"/>
        <p:guide pos="29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2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19.08.2026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我们是苏致远、吴多迅、魏龙飞。今天我们将向大家汇报我们的创新应用课程作业——一个基于PyTorch的猫狗图像识别项目。本次报告将详细介绍我们项目的背景、技术实现、遇到的问题以及最终的成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在项目中，我们三人分工明确。苏致远主要负责核心代码的编写，吴多迅负责理论总结和训练流程的开发，魏龙飞则负责前期知识的铺垫和模型训练的参与。我们通过Git进行版本控制，采用分支开发和Pull Request的方式协作，确保了文档和代码的同步推进。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项目核心功能是，输入一张猫或狗的图片，模型能够输出它的类别以及相应的置信度。我们不仅支持单张图片的预测，还支持对整个文件夹的图片进行批量预测。为了实现这一功能，我们编写了三个核心脚本，分别用于数据下载、模型训练和预测。最终，我们的模型在验证集上达到了84.3%的准确率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选择猫狗识别作为项目主题，因为它是CNN入门的经典任务。我们的目标不仅仅是完成识别，更重要的是通过这个项目，将课堂上学到的理论知识付诸实践，完整地走一遍从数据到模型再到应用的全流程，并深入理解CNN中各个组件的作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技术路线可以概括为四个步骤。首先是理论学习，为项目打下坚实的基础。然后是数据准备，包括数据的下载、整理和增强。接着是核心的模型训练阶段，我们构建并训练自己的CNN模型。最后是评估与预测，检验模型性能并实现应用。这四个步骤分别对应我们编写的三个核心脚本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项目开始前，我们进行了充分的理论学习。我们回顾了从感知机到深层网络的基本原理，理解了激活函数和损失函数的作用。这些理论知识直接指导了我们的代码实践，例如，我们在网络中使用了BatchNorm层，选择了Adam优化器，并采用交叉熵损失函数，这些都是理论学习的直接应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项目开始前，我们进行了充分的理论学习。我们回顾了从感知机到深层网络的基本原理，理解了激活函数和损失函数的作用。这些理论知识直接指导了我们的代码实践，例如，我们在网络中使用了BatchNorm层，选择了Adam优化器，并采用交叉熵损失函数，这些都是理论学习的直接应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项目开始前，我们进行了充分的理论学习。我们回顾了从感知机到深层网络的基本原理，理解了激活函数和损失函数的作用。这些理论知识直接指导了我们的代码实践，例如，我们在网络中使用了BatchNorm层，选择了Adam优化器，并采用交叉熵损失函数，这些都是理论学习的直接应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项目开始前，我们进行了充分的理论学习。我们回顾了从感知机到深层网络的基本原理，理解了激活函数和损失函数的作用。这些理论知识直接指导了我们的代码实践，例如，我们在网络中使用了BatchNorm层，选择了Adam优化器，并采用交叉熵损失函数，这些都是理论学习的直接应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项目开始前，我们进行了充分的理论学习。我们回顾了从感知机到深层网络的基本原理，理解了激活函数和损失函数的作用。这些理论知识直接指导了我们的代码实践，例如，我们在网络中使用了BatchNorm层，选择了Adam优化器，并采用交叉熵损失函数，这些都是理论学习的直接应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项目开始前，我们进行了充分的理论学习。我们回顾了从感知机到深层网络的基本原理，理解了激活函数和损失函数的作用。这些理论知识直接指导了我们的代码实践，例如，我们在网络中使用了BatchNorm层，选择了Adam优化器，并采用交叉熵损失函数，这些都是理论学习的直接应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项目开始前，我们进行了充分的理论学习。我们回顾了从感知机到深层网络的基本原理，理解了激活函数和损失函数的作用。这些理论知识直接指导了我们的代码实践，例如，我们在网络中使用了BatchNorm层，选择了Adam优化器，并采用交叉熵损失函数，这些都是理论学习的直接应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数据准备是项目成功的关键。我们实现了数据的自动化下载和整理，通过脚本自动将Kaggle上的数据集下载并按8:2的比例划分为训练集和验证集。为了提升模型的泛化能力，我们在训练过程中采用了多种数据增强技术，如随机裁剪、翻转和颜色抖动。最终，我们共使用了约一万张图片进行训练和验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训练阶段，我们选择了Adam作为优化器，学习率初始化为0.001，并使用交叉熵损失函数。我们设置批大小为64，共训练12轮。为了优化训练过程，我们采用了学习率衰减策略，并制定了只保存验证集准确率最高模型的策略，这对于最终模型的性能至关重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经过12轮训练，我们的模型表现良好。从训练曲线上可以看到，训练损失持续下降，准确率稳步提升。最终，模型在验证集上的整体准确率达到了84.3%。其中，猫的识别率高达94.5%，而狗的识别率为74.1%，这揭示了一些有趣的问题，我们将在下一部分讨论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发现模型存在“偏猫”现象，即对狗的识别率显著低于猫。我们分析这主要是因为狗的品种更多样，类内差异大。同时，我们观察到验证曲线存在震荡，这说明我们的模型还不够稳定。针对这些问题，我们提出了几个改进方向，包括增加训练轮数、使用更复杂的网络如ResNet，以及对狗类数据进行特殊处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结本次项目，我们认为亮点在于实现了全自动的数据管线，所有代码都可复现，并且手写的网络结构清晰可解释。通过这个项目，我们每个人都收获颇丰，不仅完成了从理论到实践的闭环，更深刻地理解了模型评估的复杂性和团队协作的重要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结本次项目，我们认为亮点在于实现了全自动的数据管线，所有代码都可复现，并且手写的网络结构清晰可解释。通过这个项目，我们每个人都收获颇丰，不仅完成了从理论到实践的闭环，更深刻地理解了模型评估的复杂性和团队协作的重要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1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1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image" Target="../media/image2.jpe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image" Target="../media/image1.jpe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notesSlide" Target="../notesSlides/notesSlide1.xml"/><Relationship Id="rId5" Type="http://schemas.openxmlformats.org/officeDocument/2006/relationships/tags" Target="../tags/tag5.xml"/><Relationship Id="rId10" Type="http://schemas.openxmlformats.org/officeDocument/2006/relationships/slideLayout" Target="../slideLayouts/slideLayout12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17.xml"/><Relationship Id="rId13" Type="http://schemas.openxmlformats.org/officeDocument/2006/relationships/image" Target="../media/image4.png"/><Relationship Id="rId3" Type="http://schemas.openxmlformats.org/officeDocument/2006/relationships/tags" Target="../tags/tag12.xml"/><Relationship Id="rId7" Type="http://schemas.openxmlformats.org/officeDocument/2006/relationships/tags" Target="../tags/tag16.xml"/><Relationship Id="rId12" Type="http://schemas.openxmlformats.org/officeDocument/2006/relationships/image" Target="../media/image3.jpe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tags" Target="../tags/tag15.xml"/><Relationship Id="rId11" Type="http://schemas.openxmlformats.org/officeDocument/2006/relationships/notesSlide" Target="../notesSlides/notesSlide2.xml"/><Relationship Id="rId5" Type="http://schemas.openxmlformats.org/officeDocument/2006/relationships/tags" Target="../tags/tag14.xml"/><Relationship Id="rId10" Type="http://schemas.openxmlformats.org/officeDocument/2006/relationships/slideLayout" Target="../slideLayouts/slideLayout12.xml"/><Relationship Id="rId4" Type="http://schemas.openxmlformats.org/officeDocument/2006/relationships/tags" Target="../tags/tag13.xml"/><Relationship Id="rId9" Type="http://schemas.openxmlformats.org/officeDocument/2006/relationships/tags" Target="../tags/tag1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26.xml"/><Relationship Id="rId13" Type="http://schemas.openxmlformats.org/officeDocument/2006/relationships/slideLayout" Target="../slideLayouts/slideLayout12.xml"/><Relationship Id="rId18" Type="http://schemas.openxmlformats.org/officeDocument/2006/relationships/image" Target="../media/image14.png"/><Relationship Id="rId3" Type="http://schemas.openxmlformats.org/officeDocument/2006/relationships/tags" Target="../tags/tag21.xml"/><Relationship Id="rId21" Type="http://schemas.openxmlformats.org/officeDocument/2006/relationships/image" Target="../media/image17.svg"/><Relationship Id="rId7" Type="http://schemas.openxmlformats.org/officeDocument/2006/relationships/tags" Target="../tags/tag25.xml"/><Relationship Id="rId12" Type="http://schemas.openxmlformats.org/officeDocument/2006/relationships/tags" Target="../tags/tag30.xml"/><Relationship Id="rId17" Type="http://schemas.openxmlformats.org/officeDocument/2006/relationships/image" Target="../media/image13.svg"/><Relationship Id="rId2" Type="http://schemas.openxmlformats.org/officeDocument/2006/relationships/tags" Target="../tags/tag20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1" Type="http://schemas.openxmlformats.org/officeDocument/2006/relationships/tags" Target="../tags/tag19.xml"/><Relationship Id="rId6" Type="http://schemas.openxmlformats.org/officeDocument/2006/relationships/tags" Target="../tags/tag24.xml"/><Relationship Id="rId11" Type="http://schemas.openxmlformats.org/officeDocument/2006/relationships/tags" Target="../tags/tag29.xml"/><Relationship Id="rId5" Type="http://schemas.openxmlformats.org/officeDocument/2006/relationships/tags" Target="../tags/tag23.xml"/><Relationship Id="rId15" Type="http://schemas.openxmlformats.org/officeDocument/2006/relationships/image" Target="../media/image3.jpeg"/><Relationship Id="rId10" Type="http://schemas.openxmlformats.org/officeDocument/2006/relationships/tags" Target="../tags/tag28.xml"/><Relationship Id="rId19" Type="http://schemas.openxmlformats.org/officeDocument/2006/relationships/image" Target="../media/image15.svg"/><Relationship Id="rId4" Type="http://schemas.openxmlformats.org/officeDocument/2006/relationships/tags" Target="../tags/tag22.xml"/><Relationship Id="rId9" Type="http://schemas.openxmlformats.org/officeDocument/2006/relationships/tags" Target="../tags/tag27.xml"/><Relationship Id="rId14" Type="http://schemas.openxmlformats.org/officeDocument/2006/relationships/notesSlide" Target="../notesSlides/notesSlide4.xml"/><Relationship Id="rId22" Type="http://schemas.openxmlformats.org/officeDocument/2006/relationships/image" Target="../media/image18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6.svg"/><Relationship Id="rId3" Type="http://schemas.openxmlformats.org/officeDocument/2006/relationships/image" Target="../media/image3.jpeg"/><Relationship Id="rId7" Type="http://schemas.openxmlformats.org/officeDocument/2006/relationships/image" Target="../media/image22.svg"/><Relationship Id="rId12" Type="http://schemas.openxmlformats.org/officeDocument/2006/relationships/image" Target="../media/image25.png"/><Relationship Id="rId17" Type="http://schemas.openxmlformats.org/officeDocument/2006/relationships/image" Target="../media/image30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11" Type="http://schemas.openxmlformats.org/officeDocument/2006/relationships/image" Target="../media/image10.svg"/><Relationship Id="rId5" Type="http://schemas.openxmlformats.org/officeDocument/2006/relationships/image" Target="../media/image20.svg"/><Relationship Id="rId15" Type="http://schemas.openxmlformats.org/officeDocument/2006/relationships/image" Target="../media/image28.svg"/><Relationship Id="rId10" Type="http://schemas.openxmlformats.org/officeDocument/2006/relationships/image" Target="../media/image9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Relationship Id="rId1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37.png"/><Relationship Id="rId2" Type="http://schemas.openxmlformats.org/officeDocument/2006/relationships/slideLayout" Target="../slideLayouts/slideLayout17.xml"/><Relationship Id="rId1" Type="http://schemas.openxmlformats.org/officeDocument/2006/relationships/tags" Target="../tags/tag31.xml"/><Relationship Id="rId6" Type="http://schemas.openxmlformats.org/officeDocument/2006/relationships/image" Target="../media/image36.svg"/><Relationship Id="rId5" Type="http://schemas.openxmlformats.org/officeDocument/2006/relationships/image" Target="../media/image16.png"/><Relationship Id="rId4" Type="http://schemas.openxmlformats.org/officeDocument/2006/relationships/image" Target="../media/image3.jpeg"/><Relationship Id="rId9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notesSlide" Target="../notesSlides/notesSlide9.xml"/><Relationship Id="rId7" Type="http://schemas.openxmlformats.org/officeDocument/2006/relationships/image" Target="../media/image42.png"/><Relationship Id="rId2" Type="http://schemas.openxmlformats.org/officeDocument/2006/relationships/slideLayout" Target="../slideLayouts/slideLayout14.xml"/><Relationship Id="rId1" Type="http://schemas.openxmlformats.org/officeDocument/2006/relationships/tags" Target="../tags/tag32.xml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slideLayout" Target="../slideLayouts/slideLayout15.xml"/><Relationship Id="rId7" Type="http://schemas.openxmlformats.org/officeDocument/2006/relationships/image" Target="../media/image45.svg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image" Target="../media/image44.png"/><Relationship Id="rId5" Type="http://schemas.openxmlformats.org/officeDocument/2006/relationships/image" Target="../media/image3.jpe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5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3.jpeg"/><Relationship Id="rId7" Type="http://schemas.openxmlformats.org/officeDocument/2006/relationships/image" Target="../media/image54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3.png"/><Relationship Id="rId5" Type="http://schemas.openxmlformats.org/officeDocument/2006/relationships/image" Target="../media/image26.svg"/><Relationship Id="rId10" Type="http://schemas.openxmlformats.org/officeDocument/2006/relationships/image" Target="../media/image57.png"/><Relationship Id="rId4" Type="http://schemas.openxmlformats.org/officeDocument/2006/relationships/image" Target="../media/image25.png"/><Relationship Id="rId9" Type="http://schemas.openxmlformats.org/officeDocument/2006/relationships/image" Target="../media/image5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svg"/><Relationship Id="rId3" Type="http://schemas.openxmlformats.org/officeDocument/2006/relationships/image" Target="../media/image3.jpeg"/><Relationship Id="rId7" Type="http://schemas.openxmlformats.org/officeDocument/2006/relationships/image" Target="../media/image59.svg"/><Relationship Id="rId12" Type="http://schemas.openxmlformats.org/officeDocument/2006/relationships/image" Target="../media/image64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8.png"/><Relationship Id="rId11" Type="http://schemas.openxmlformats.org/officeDocument/2006/relationships/image" Target="../media/image63.svg"/><Relationship Id="rId5" Type="http://schemas.openxmlformats.org/officeDocument/2006/relationships/image" Target="../media/image28.svg"/><Relationship Id="rId15" Type="http://schemas.openxmlformats.org/officeDocument/2006/relationships/image" Target="../media/image67.svg"/><Relationship Id="rId10" Type="http://schemas.openxmlformats.org/officeDocument/2006/relationships/image" Target="../media/image62.png"/><Relationship Id="rId4" Type="http://schemas.openxmlformats.org/officeDocument/2006/relationships/image" Target="../media/image27.png"/><Relationship Id="rId9" Type="http://schemas.openxmlformats.org/officeDocument/2006/relationships/image" Target="../media/image61.svg"/><Relationship Id="rId14" Type="http://schemas.openxmlformats.org/officeDocument/2006/relationships/image" Target="../media/image6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3.jpeg"/><Relationship Id="rId7" Type="http://schemas.openxmlformats.org/officeDocument/2006/relationships/image" Target="../media/image72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1.png"/><Relationship Id="rId5" Type="http://schemas.openxmlformats.org/officeDocument/2006/relationships/image" Target="../media/image70.sv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43.xml"/><Relationship Id="rId13" Type="http://schemas.openxmlformats.org/officeDocument/2006/relationships/slideLayout" Target="../slideLayouts/slideLayout12.xml"/><Relationship Id="rId18" Type="http://schemas.openxmlformats.org/officeDocument/2006/relationships/image" Target="../media/image77.png"/><Relationship Id="rId3" Type="http://schemas.openxmlformats.org/officeDocument/2006/relationships/tags" Target="../tags/tag38.xml"/><Relationship Id="rId21" Type="http://schemas.openxmlformats.org/officeDocument/2006/relationships/image" Target="../media/image80.svg"/><Relationship Id="rId7" Type="http://schemas.openxmlformats.org/officeDocument/2006/relationships/tags" Target="../tags/tag42.xml"/><Relationship Id="rId12" Type="http://schemas.openxmlformats.org/officeDocument/2006/relationships/tags" Target="../tags/tag47.xml"/><Relationship Id="rId17" Type="http://schemas.openxmlformats.org/officeDocument/2006/relationships/image" Target="../media/image76.svg"/><Relationship Id="rId2" Type="http://schemas.openxmlformats.org/officeDocument/2006/relationships/tags" Target="../tags/tag37.xml"/><Relationship Id="rId16" Type="http://schemas.openxmlformats.org/officeDocument/2006/relationships/image" Target="../media/image40.png"/><Relationship Id="rId20" Type="http://schemas.openxmlformats.org/officeDocument/2006/relationships/image" Target="../media/image79.png"/><Relationship Id="rId1" Type="http://schemas.openxmlformats.org/officeDocument/2006/relationships/tags" Target="../tags/tag36.xml"/><Relationship Id="rId6" Type="http://schemas.openxmlformats.org/officeDocument/2006/relationships/tags" Target="../tags/tag41.xml"/><Relationship Id="rId11" Type="http://schemas.openxmlformats.org/officeDocument/2006/relationships/tags" Target="../tags/tag46.xml"/><Relationship Id="rId5" Type="http://schemas.openxmlformats.org/officeDocument/2006/relationships/tags" Target="../tags/tag40.xml"/><Relationship Id="rId15" Type="http://schemas.openxmlformats.org/officeDocument/2006/relationships/image" Target="../media/image3.jpeg"/><Relationship Id="rId23" Type="http://schemas.openxmlformats.org/officeDocument/2006/relationships/image" Target="../media/image82.svg"/><Relationship Id="rId10" Type="http://schemas.openxmlformats.org/officeDocument/2006/relationships/tags" Target="../tags/tag45.xml"/><Relationship Id="rId19" Type="http://schemas.openxmlformats.org/officeDocument/2006/relationships/image" Target="../media/image78.svg"/><Relationship Id="rId4" Type="http://schemas.openxmlformats.org/officeDocument/2006/relationships/tags" Target="../tags/tag39.xml"/><Relationship Id="rId9" Type="http://schemas.openxmlformats.org/officeDocument/2006/relationships/tags" Target="../tags/tag44.xml"/><Relationship Id="rId14" Type="http://schemas.openxmlformats.org/officeDocument/2006/relationships/notesSlide" Target="../notesSlides/notesSlide16.xml"/><Relationship Id="rId22" Type="http://schemas.openxmlformats.org/officeDocument/2006/relationships/image" Target="../media/image8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3" Type="http://schemas.openxmlformats.org/officeDocument/2006/relationships/tags" Target="../tags/tag50.xml"/><Relationship Id="rId7" Type="http://schemas.openxmlformats.org/officeDocument/2006/relationships/tags" Target="../tags/tag54.xml"/><Relationship Id="rId12" Type="http://schemas.openxmlformats.org/officeDocument/2006/relationships/image" Target="../media/image83.jpeg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image" Target="../media/image3.jpeg"/><Relationship Id="rId5" Type="http://schemas.openxmlformats.org/officeDocument/2006/relationships/tags" Target="../tags/tag52.xml"/><Relationship Id="rId10" Type="http://schemas.openxmlformats.org/officeDocument/2006/relationships/notesSlide" Target="../notesSlides/notesSlide17.xml"/><Relationship Id="rId4" Type="http://schemas.openxmlformats.org/officeDocument/2006/relationships/tags" Target="../tags/tag51.xml"/><Relationship Id="rId9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63.xml"/><Relationship Id="rId3" Type="http://schemas.openxmlformats.org/officeDocument/2006/relationships/tags" Target="../tags/tag58.xml"/><Relationship Id="rId7" Type="http://schemas.openxmlformats.org/officeDocument/2006/relationships/tags" Target="../tags/tag62.xml"/><Relationship Id="rId12" Type="http://schemas.openxmlformats.org/officeDocument/2006/relationships/image" Target="../media/image3.jpeg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6" Type="http://schemas.openxmlformats.org/officeDocument/2006/relationships/tags" Target="../tags/tag61.xml"/><Relationship Id="rId11" Type="http://schemas.openxmlformats.org/officeDocument/2006/relationships/notesSlide" Target="../notesSlides/notesSlide18.xml"/><Relationship Id="rId5" Type="http://schemas.openxmlformats.org/officeDocument/2006/relationships/tags" Target="../tags/tag60.xml"/><Relationship Id="rId10" Type="http://schemas.openxmlformats.org/officeDocument/2006/relationships/slideLayout" Target="../slideLayouts/slideLayout13.xml"/><Relationship Id="rId4" Type="http://schemas.openxmlformats.org/officeDocument/2006/relationships/tags" Target="../tags/tag59.xml"/><Relationship Id="rId9" Type="http://schemas.openxmlformats.org/officeDocument/2006/relationships/tags" Target="../tags/tag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1524000"/>
            <a:ext cx="10160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基于PyTorch的猫狗图像识别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1115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创新应用作业课程报告</a:t>
            </a:r>
            <a:endParaRPr lang="en-US" sz="1100"/>
          </a:p>
        </p:txBody>
      </p: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1016000" y="4254500"/>
            <a:ext cx="3302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8C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>
            <p:custDataLst>
              <p:tags r:id="rId2"/>
            </p:custDataLst>
          </p:nvPr>
        </p:nvSpPr>
        <p:spPr>
          <a:xfrm>
            <a:off x="1206500" y="44196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✦ 汇报小组</a:t>
            </a:r>
          </a:p>
        </p:txBody>
      </p:sp>
      <p:sp>
        <p:nvSpPr>
          <p:cNvPr id="7" name="AutoShape 7"/>
          <p:cNvSpPr/>
          <p:nvPr>
            <p:custDataLst>
              <p:tags r:id="rId3"/>
            </p:custDataLst>
          </p:nvPr>
        </p:nvSpPr>
        <p:spPr>
          <a:xfrm>
            <a:off x="1206500" y="4851400"/>
            <a:ext cx="292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7000"/>
              </a:lnSpc>
              <a:defRPr/>
            </a:pPr>
            <a:r>
              <a:rPr lang="en-US" sz="1800" b="1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苏致远 / 吴多迅 / 魏龙飞</a:t>
            </a:r>
          </a:p>
        </p:txBody>
      </p:sp>
      <p:sp>
        <p:nvSpPr>
          <p:cNvPr id="8" name="AutoShape 8"/>
          <p:cNvSpPr/>
          <p:nvPr>
            <p:custDataLst>
              <p:tags r:id="rId4"/>
            </p:custDataLst>
          </p:nvPr>
        </p:nvSpPr>
        <p:spPr>
          <a:xfrm>
            <a:off x="4445000" y="4254500"/>
            <a:ext cx="3302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8C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>
            <p:custDataLst>
              <p:tags r:id="rId5"/>
            </p:custDataLst>
          </p:nvPr>
        </p:nvSpPr>
        <p:spPr>
          <a:xfrm>
            <a:off x="4635500" y="44196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✦ 专业与学院</a:t>
            </a:r>
          </a:p>
        </p:txBody>
      </p:sp>
      <p:sp>
        <p:nvSpPr>
          <p:cNvPr id="10" name="AutoShape 10"/>
          <p:cNvSpPr/>
          <p:nvPr>
            <p:custDataLst>
              <p:tags r:id="rId6"/>
            </p:custDataLst>
          </p:nvPr>
        </p:nvSpPr>
        <p:spPr>
          <a:xfrm>
            <a:off x="4635500" y="4851400"/>
            <a:ext cx="292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7000"/>
              </a:lnSpc>
              <a:defRPr/>
            </a:pPr>
            <a:r>
              <a:rPr lang="zh-CN" altLang="en-US" sz="1800" b="1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计算机科学与技术学院</a:t>
            </a:r>
          </a:p>
          <a:p>
            <a:pPr marL="0" indent="0" algn="ctr">
              <a:lnSpc>
                <a:spcPct val="117000"/>
              </a:lnSpc>
              <a:defRPr/>
            </a:pPr>
            <a:r>
              <a:rPr lang="en-US" sz="1800" b="1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人工智能</a:t>
            </a:r>
            <a:r>
              <a:rPr lang="zh-CN" altLang="en-US" sz="1800" b="1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</a:t>
            </a:r>
          </a:p>
        </p:txBody>
      </p:sp>
      <p:sp>
        <p:nvSpPr>
          <p:cNvPr id="11" name="AutoShape 11"/>
          <p:cNvSpPr/>
          <p:nvPr>
            <p:custDataLst>
              <p:tags r:id="rId7"/>
            </p:custDataLst>
          </p:nvPr>
        </p:nvSpPr>
        <p:spPr>
          <a:xfrm>
            <a:off x="7874000" y="4254500"/>
            <a:ext cx="3302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8C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>
            <p:custDataLst>
              <p:tags r:id="rId8"/>
            </p:custDataLst>
          </p:nvPr>
        </p:nvSpPr>
        <p:spPr>
          <a:xfrm>
            <a:off x="8064500" y="44196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✦ 报告日期</a:t>
            </a:r>
          </a:p>
        </p:txBody>
      </p:sp>
      <p:sp>
        <p:nvSpPr>
          <p:cNvPr id="13" name="AutoShape 13"/>
          <p:cNvSpPr/>
          <p:nvPr>
            <p:custDataLst>
              <p:tags r:id="rId9"/>
            </p:custDataLst>
          </p:nvPr>
        </p:nvSpPr>
        <p:spPr>
          <a:xfrm>
            <a:off x="8064500" y="4851400"/>
            <a:ext cx="292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7000"/>
              </a:lnSpc>
              <a:defRPr/>
            </a:pPr>
            <a:r>
              <a:rPr lang="en-US" sz="1800" b="1" i="0" u="none" strike="noStrike">
                <a:solidFill>
                  <a:srgbClr val="FFFFFF">
                    <a:alpha val="85098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2026年8月15日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rcRect l="254" r="254"/>
          <a:stretch>
            <a:fillRect/>
          </a:stretch>
        </p:blipFill>
        <p:spPr>
          <a:xfrm>
            <a:off x="9136380" y="1968500"/>
            <a:ext cx="1397000" cy="63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50800" y="-711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成员分工与量化贡献比</a:t>
            </a:r>
            <a:endParaRPr lang="zh-CN" altLang="en-US" sz="3200" b="1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629920" y="1600200"/>
            <a:ext cx="5334000" cy="121539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629920" y="1600200"/>
            <a:ext cx="76200" cy="1215390"/>
          </a:xfrm>
          <a:prstGeom prst="roundRect">
            <a:avLst>
              <a:gd name="adj" fmla="val 0"/>
            </a:avLst>
          </a:prstGeom>
          <a:solidFill>
            <a:srgbClr val="FF8C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833120" y="1663700"/>
            <a:ext cx="5080000" cy="114363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苏致远 (3.3) | 核心</a:t>
            </a:r>
            <a:r>
              <a:rPr lang="zh-CN" alt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</a:t>
            </a: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开发</a:t>
            </a:r>
            <a:endParaRPr lang="en-US" sz="1200"/>
          </a:p>
          <a:p>
            <a:pPr marL="0" indent="0" algn="l">
              <a:lnSpc>
                <a:spcPct val="108000"/>
              </a:lnSpc>
            </a:pPr>
            <a:r>
              <a:rPr lang="en-US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独立编写项目核心算法代码，主导技术架构设计；负责最终的代码逻辑讲解与复盘，确保技术方案的严谨性与可落地性。</a:t>
            </a:r>
          </a:p>
        </p:txBody>
      </p: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629920" y="3263900"/>
            <a:ext cx="5334000" cy="121539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629920" y="3263900"/>
            <a:ext cx="76200" cy="1215390"/>
          </a:xfrm>
          <a:prstGeom prst="roundRect">
            <a:avLst>
              <a:gd name="adj" fmla="val 0"/>
            </a:avLst>
          </a:prstGeom>
          <a:solidFill>
            <a:srgbClr val="FF8C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833120" y="3327400"/>
            <a:ext cx="5080000" cy="114363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吴多迅 (3.3) | 文档与协同开发</a:t>
            </a:r>
            <a:endParaRPr lang="en-US" sz="1200"/>
          </a:p>
          <a:p>
            <a:pPr marL="0" indent="0" algn="l">
              <a:lnSpc>
                <a:spcPct val="108000"/>
              </a:lnSpc>
            </a:pPr>
            <a:r>
              <a:rPr lang="en-US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撰写详细的理论推导与实践学习摘要，梳理技术文档体系；与苏致远深度协同开发模型训练全流程，保障实验的可复现性。</a:t>
            </a:r>
          </a:p>
        </p:txBody>
      </p:sp>
      <p:sp>
        <p:nvSpPr>
          <p:cNvPr id="10" name="AutoShape 10"/>
          <p:cNvSpPr/>
          <p:nvPr>
            <p:custDataLst>
              <p:tags r:id="rId7"/>
            </p:custDataLst>
          </p:nvPr>
        </p:nvSpPr>
        <p:spPr>
          <a:xfrm>
            <a:off x="629920" y="4902200"/>
            <a:ext cx="5334000" cy="121539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sz="1600"/>
          </a:p>
        </p:txBody>
      </p:sp>
      <p:sp>
        <p:nvSpPr>
          <p:cNvPr id="11" name="AutoShape 11"/>
          <p:cNvSpPr/>
          <p:nvPr>
            <p:custDataLst>
              <p:tags r:id="rId8"/>
            </p:custDataLst>
          </p:nvPr>
        </p:nvSpPr>
        <p:spPr>
          <a:xfrm>
            <a:off x="629920" y="4902200"/>
            <a:ext cx="76200" cy="1215390"/>
          </a:xfrm>
          <a:prstGeom prst="roundRect">
            <a:avLst>
              <a:gd name="adj" fmla="val 0"/>
            </a:avLst>
          </a:prstGeom>
          <a:solidFill>
            <a:srgbClr val="FF8C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>
            <p:custDataLst>
              <p:tags r:id="rId9"/>
            </p:custDataLst>
          </p:nvPr>
        </p:nvSpPr>
        <p:spPr>
          <a:xfrm>
            <a:off x="833120" y="4965700"/>
            <a:ext cx="5080000" cy="114363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魏龙飞 (3.4) | 基础支持与调参</a:t>
            </a:r>
            <a:endParaRPr lang="en-US" sz="1200"/>
          </a:p>
          <a:p>
            <a:pPr marL="0" indent="0" algn="l">
              <a:lnSpc>
                <a:spcPct val="108000"/>
              </a:lnSpc>
            </a:pPr>
            <a:r>
              <a:rPr lang="en-US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负责前期神经网络基础预备知识的梳理与分享；深度参与模型训练的调参优化环节，协助完成项目摘要的补充与校对。</a:t>
            </a: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3955" y="1064260"/>
            <a:ext cx="5598795" cy="51885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项目简要介绍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5207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7145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460500" y="1689100"/>
            <a:ext cx="381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核心功能概览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21336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支持单张或批量输入猫狗图片，模型自动输出精确的类别判定结果与置信度百分比，实现高效、轻量化的图像分类推理。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3111500"/>
            <a:ext cx="5207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3020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460500" y="3276600"/>
            <a:ext cx="381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自动化脚本工具集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16000" y="37211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</a:t>
            </a:r>
            <a:r>
              <a:rPr lang="en-US" sz="1400" b="0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download_data.py</a:t>
            </a: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自动拉取数据集；</a:t>
            </a:r>
            <a:r>
              <a:rPr lang="en-US" sz="1400" b="0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train.py</a:t>
            </a: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完成模型训练与曲线绘制；</a:t>
            </a:r>
            <a:r>
              <a:rPr lang="en-US" sz="1400" b="0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predict.py</a:t>
            </a:r>
            <a:r>
              <a:rPr lang="en-US" sz="14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实现命令行一键快速推理。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62000" y="4826000"/>
            <a:ext cx="5207000" cy="1524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5016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460500" y="4991100"/>
            <a:ext cx="381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模型性能表现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016000" y="5486400"/>
            <a:ext cx="152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84.3%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验证集总准确率</a:t>
            </a:r>
          </a:p>
        </p:txBody>
      </p:sp>
      <p:cxnSp>
        <p:nvCxnSpPr>
          <p:cNvPr id="16" name="Connector 16"/>
          <p:cNvCxnSpPr/>
          <p:nvPr/>
        </p:nvCxnSpPr>
        <p:spPr>
          <a:xfrm rot="5323618">
            <a:off x="2317750" y="5867471"/>
            <a:ext cx="571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2667000" y="5486400"/>
            <a:ext cx="152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94.5%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猫类别识别率</a:t>
            </a:r>
          </a:p>
        </p:txBody>
      </p:sp>
      <p:cxnSp>
        <p:nvCxnSpPr>
          <p:cNvPr id="18" name="Connector 18"/>
          <p:cNvCxnSpPr/>
          <p:nvPr/>
        </p:nvCxnSpPr>
        <p:spPr>
          <a:xfrm rot="5323618">
            <a:off x="3905250" y="5867471"/>
            <a:ext cx="571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4254500" y="5486400"/>
            <a:ext cx="152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74.1%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狗类别识别率</a:t>
            </a: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2860" y="898525"/>
            <a:ext cx="4940300" cy="54514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项目背景与目标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93700" y="1699260"/>
            <a:ext cx="2388870" cy="2228215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530225" y="1625600"/>
            <a:ext cx="2304415" cy="2362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猫狗识别是计算机视觉领域中卷积神经网络（CNN）入门的经典任务。该任务数据公开、场景直观，能帮助初学者快速理解图像分类的核心逻辑，是深度学习理论与工程实践结合的绝佳切入点。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1"/>
            </p:custDataLst>
          </p:nvPr>
        </p:nvSpPr>
        <p:spPr>
          <a:xfrm>
            <a:off x="762000" y="4627880"/>
            <a:ext cx="3378200" cy="171450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2500" y="479171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>
            <p:custDataLst>
              <p:tags r:id="rId3"/>
            </p:custDataLst>
          </p:nvPr>
        </p:nvSpPr>
        <p:spPr>
          <a:xfrm>
            <a:off x="1333500" y="4766310"/>
            <a:ext cx="2730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理论落地实践</a:t>
            </a: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4"/>
            </p:custDataLst>
          </p:nvPr>
        </p:nvSpPr>
        <p:spPr>
          <a:xfrm>
            <a:off x="952500" y="5236210"/>
            <a:ext cx="2997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告别纸上谈兵，亲手搭建卷积神经网络结构，将CNN的核心理论转化为可运行的代码，实现从公式到模型的跨越。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5"/>
            </p:custDataLst>
          </p:nvPr>
        </p:nvSpPr>
        <p:spPr>
          <a:xfrm>
            <a:off x="4394200" y="4601210"/>
            <a:ext cx="3378200" cy="171450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584700" y="479171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>
            <p:custDataLst>
              <p:tags r:id="rId7"/>
            </p:custDataLst>
          </p:nvPr>
        </p:nvSpPr>
        <p:spPr>
          <a:xfrm>
            <a:off x="4965700" y="4766310"/>
            <a:ext cx="2730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掌握全流程闭环</a:t>
            </a:r>
            <a:endParaRPr lang="en-US" sz="1100"/>
          </a:p>
        </p:txBody>
      </p:sp>
      <p:sp>
        <p:nvSpPr>
          <p:cNvPr id="13" name="AutoShape 13"/>
          <p:cNvSpPr/>
          <p:nvPr>
            <p:custDataLst>
              <p:tags r:id="rId8"/>
            </p:custDataLst>
          </p:nvPr>
        </p:nvSpPr>
        <p:spPr>
          <a:xfrm>
            <a:off x="4584700" y="5236210"/>
            <a:ext cx="2997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完整经历“数据采集清洗→模型架构设计→训练调优→评估预测”的AI项目全生命周期，积累真实的工程经验。</a:t>
            </a:r>
            <a:endParaRPr lang="en-US" sz="1100"/>
          </a:p>
        </p:txBody>
      </p:sp>
      <p:sp>
        <p:nvSpPr>
          <p:cNvPr id="14" name="AutoShape 14"/>
          <p:cNvSpPr/>
          <p:nvPr>
            <p:custDataLst>
              <p:tags r:id="rId9"/>
            </p:custDataLst>
          </p:nvPr>
        </p:nvSpPr>
        <p:spPr>
          <a:xfrm>
            <a:off x="8026400" y="4601210"/>
            <a:ext cx="3378200" cy="171450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216900" y="479171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>
            <p:custDataLst>
              <p:tags r:id="rId11"/>
            </p:custDataLst>
          </p:nvPr>
        </p:nvSpPr>
        <p:spPr>
          <a:xfrm>
            <a:off x="8597900" y="4766310"/>
            <a:ext cx="2730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拆解核心组件</a:t>
            </a:r>
            <a:endParaRPr lang="en-US" sz="1100"/>
          </a:p>
        </p:txBody>
      </p:sp>
      <p:sp>
        <p:nvSpPr>
          <p:cNvPr id="17" name="AutoShape 17"/>
          <p:cNvSpPr/>
          <p:nvPr>
            <p:custDataLst>
              <p:tags r:id="rId12"/>
            </p:custDataLst>
          </p:nvPr>
        </p:nvSpPr>
        <p:spPr>
          <a:xfrm>
            <a:off x="8216900" y="5236210"/>
            <a:ext cx="2997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深入理解卷积层、池化层、BN层及优化器的作用机制，掌握参数调优对模型性能的关键影响，知其然更知其所以然。</a:t>
            </a:r>
            <a:endParaRPr lang="en-US" sz="1100"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22"/>
          <a:srcRect l="5" r="5"/>
          <a:stretch>
            <a:fillRect/>
          </a:stretch>
        </p:blipFill>
        <p:spPr>
          <a:xfrm>
            <a:off x="3237230" y="1625600"/>
            <a:ext cx="8430260" cy="2352675"/>
          </a:xfrm>
          <a:prstGeom prst="rect">
            <a:avLst/>
          </a:prstGeom>
          <a:noFill/>
          <a:ln w="12700" cap="flat" cmpd="sng">
            <a:solidFill>
              <a:srgbClr val="000000">
                <a:alpha val="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总体方案与技术路线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2540000" cy="2159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18415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33500" y="18034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理论学习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349500"/>
            <a:ext cx="2159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夯实深度学习理论基础，掌握CNN特征提取原理、BN层正则化机制，深入理解SGD等优化器的参数更新策略，为模型构建提供理论支撑。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467100" y="1651000"/>
            <a:ext cx="2540000" cy="2159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57600" y="1841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038600" y="18034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数据准备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657600" y="2349500"/>
            <a:ext cx="2159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自动化完成Kaggle数据集下载与解压，执行数据清洗与标签整理；通过随机裁剪、翻转等数据增强手段扩充样本，提升模型鲁棒性。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172200" y="1651000"/>
            <a:ext cx="2540000" cy="2159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62700" y="1841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743700" y="18034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模型训练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62700" y="2349500"/>
            <a:ext cx="2159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构建轻量化CNN网络结构，配置交叉熵损失函数与Adam优化器；在训练集迭代优化，利用验证集监控过拟合，动态保存最优模型权重。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877300" y="1651000"/>
            <a:ext cx="2540000" cy="2159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67800" y="18415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9448800" y="18034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评估预测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067800" y="2349500"/>
            <a:ext cx="2159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基于测试集计算准确率、混淆矩阵等关键指标；加载最优模型权重，实现对单张或批量图像的快速推理，输出分类结果与置信度。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62000" y="4191000"/>
            <a:ext cx="1066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核心代码脚本映射体系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62000" y="4826000"/>
            <a:ext cx="3429000" cy="152400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12700" cap="flat" cmpd="sng">
            <a:solidFill>
              <a:srgbClr val="FF8C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2500" y="5016500"/>
            <a:ext cx="355600" cy="3556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397000" y="5016500"/>
            <a:ext cx="279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download_data.py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52500" y="5461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实现数据集的自动化拉取与预处理，完成数据清洗、目录规整及格式转换，构建标准化的数据输入管线，为训练提供高质量数据基础。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381500" y="4826000"/>
            <a:ext cx="3429000" cy="152400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12700" cap="flat" cmpd="sng">
            <a:solidFill>
              <a:srgbClr val="FF8C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572000" y="5016500"/>
            <a:ext cx="355600" cy="3556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5016500" y="5016500"/>
            <a:ext cx="279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train.py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572000" y="5461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模型训练的核心入口，封装网络构建、超参数配置、损失计算与优化器更新逻辑，支持断点续训与实时性能监控，自动归档最优模型。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001000" y="4826000"/>
            <a:ext cx="3429000" cy="152400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12700" cap="flat" cmpd="sng">
            <a:solidFill>
              <a:srgbClr val="FF8C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191500" y="5016500"/>
            <a:ext cx="355600" cy="3556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8636000" y="5016500"/>
            <a:ext cx="2794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predict.py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191500" y="5461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加载预训练权重进行推理，处理输入图像数据，快速输出分类结果与置信度，适配线上部署、API调用及批量数据预测的实际应用场景。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cap="flat" cmpd="sng">
            <a:solidFill>
              <a:srgbClr val="E6CFCF">
                <a:alpha val="7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理论基础与前置学习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20725" y="145415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核心理论储备</a:t>
            </a:r>
            <a:endParaRPr lang="en-US" sz="1100"/>
          </a:p>
        </p:txBody>
      </p:sp>
      <p:sp>
        <p:nvSpPr>
          <p:cNvPr id="9" name="文本框 8"/>
          <p:cNvSpPr txBox="1"/>
          <p:nvPr/>
        </p:nvSpPr>
        <p:spPr>
          <a:xfrm>
            <a:off x="2450783" y="5568950"/>
            <a:ext cx="2541905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随机初始化的数学本质</a:t>
            </a: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6970" y="2146300"/>
            <a:ext cx="5129530" cy="330644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7670" y="1854835"/>
            <a:ext cx="4672330" cy="371411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8285480" y="5840095"/>
            <a:ext cx="1616710" cy="367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优化目标函数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cap="flat" cmpd="sng">
            <a:solidFill>
              <a:srgbClr val="E6CFCF">
                <a:alpha val="7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31496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理论基础与前置学习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20725" y="113792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核心理论储备</a:t>
            </a:r>
            <a:endParaRPr lang="en-US" sz="1100"/>
          </a:p>
        </p:txBody>
      </p:sp>
      <p:sp>
        <p:nvSpPr>
          <p:cNvPr id="9" name="文本框 8"/>
          <p:cNvSpPr txBox="1"/>
          <p:nvPr/>
        </p:nvSpPr>
        <p:spPr>
          <a:xfrm>
            <a:off x="2806383" y="5946775"/>
            <a:ext cx="1276985" cy="3981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BN</a:t>
            </a:r>
            <a:r>
              <a:rPr lang="zh-CN" altLang="en-US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标准化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8285480" y="5977255"/>
            <a:ext cx="1616710" cy="367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MSRA</a:t>
            </a:r>
            <a:r>
              <a:rPr lang="zh-CN" altLang="en-US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初始化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725" y="1727200"/>
            <a:ext cx="5448300" cy="14478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725" y="3175000"/>
            <a:ext cx="5448300" cy="2627112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0820" y="1727200"/>
            <a:ext cx="4869180" cy="40830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cap="flat" cmpd="sng">
            <a:solidFill>
              <a:srgbClr val="E6CFCF">
                <a:alpha val="7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理论基础与前置学习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20725" y="145415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核心理论储备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495" y="2017395"/>
            <a:ext cx="407670" cy="40767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1183005" y="2017395"/>
            <a:ext cx="4629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torch.autograd </a:t>
            </a:r>
            <a:r>
              <a:rPr lang="zh-CN" altLang="en-US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自动求导</a:t>
            </a:r>
            <a:endParaRPr lang="en-US" sz="1800" b="1">
              <a:solidFill>
                <a:srgbClr val="FF8C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9005" y="2785745"/>
            <a:ext cx="4883785" cy="343916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1900" y="209550"/>
            <a:ext cx="5052695" cy="309626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1900" y="3594100"/>
            <a:ext cx="5053330" cy="29502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cap="flat" cmpd="sng">
            <a:solidFill>
              <a:srgbClr val="E6CFCF">
                <a:alpha val="7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理论基础与前置学习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495" y="2095500"/>
            <a:ext cx="384810" cy="384810"/>
          </a:xfrm>
          <a:prstGeom prst="rect">
            <a:avLst/>
          </a:prstGeom>
        </p:spPr>
      </p:pic>
      <p:sp>
        <p:nvSpPr>
          <p:cNvPr id="16" name="AutoShape 4"/>
          <p:cNvSpPr/>
          <p:nvPr/>
        </p:nvSpPr>
        <p:spPr>
          <a:xfrm>
            <a:off x="720725" y="145415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核心理论储备</a:t>
            </a:r>
            <a:endParaRPr lang="en-US" sz="1100"/>
          </a:p>
        </p:txBody>
      </p:sp>
      <p:sp>
        <p:nvSpPr>
          <p:cNvPr id="20" name="文本框 19"/>
          <p:cNvSpPr txBox="1"/>
          <p:nvPr/>
        </p:nvSpPr>
        <p:spPr>
          <a:xfrm>
            <a:off x="1183005" y="2017395"/>
            <a:ext cx="4629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tensor</a:t>
            </a:r>
            <a:r>
              <a:rPr lang="zh-CN" altLang="en-US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与</a:t>
            </a:r>
            <a:r>
              <a:rPr lang="en-US" altLang="zh-CN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numpy</a:t>
            </a: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0305" y="1143000"/>
            <a:ext cx="5521960" cy="4900295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" y="2668905"/>
            <a:ext cx="5676900" cy="3230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cap="flat" cmpd="sng">
            <a:solidFill>
              <a:srgbClr val="E6CFCF">
                <a:alpha val="7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理论基础与前置学习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0565" y="1998345"/>
            <a:ext cx="407670" cy="407670"/>
          </a:xfrm>
          <a:prstGeom prst="rect">
            <a:avLst/>
          </a:prstGeom>
        </p:spPr>
      </p:pic>
      <p:sp>
        <p:nvSpPr>
          <p:cNvPr id="16" name="AutoShape 4"/>
          <p:cNvSpPr/>
          <p:nvPr/>
        </p:nvSpPr>
        <p:spPr>
          <a:xfrm>
            <a:off x="720725" y="145415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核心理论储备</a:t>
            </a:r>
            <a:endParaRPr lang="en-US" sz="1100"/>
          </a:p>
        </p:txBody>
      </p:sp>
      <p:sp>
        <p:nvSpPr>
          <p:cNvPr id="18" name="AutoShape 6"/>
          <p:cNvSpPr/>
          <p:nvPr>
            <p:custDataLst>
              <p:tags r:id="rId2"/>
            </p:custDataLst>
          </p:nvPr>
        </p:nvSpPr>
        <p:spPr>
          <a:xfrm>
            <a:off x="762000" y="2567940"/>
            <a:ext cx="4284345" cy="335788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457200" algn="l">
              <a:lnSpc>
                <a:spcPct val="108000"/>
              </a:lnSpc>
              <a:defRPr/>
            </a:pPr>
            <a:r>
              <a:rPr lang="zh-CN" altLang="en-US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神经网络由输入层、隐藏层和输出层构成，核心在于通过前向传播逐层计算输出，反向传播利用链式法则传递误差并更新权重。激活函数（如</a:t>
            </a:r>
            <a:r>
              <a:rPr lang="en-US" altLang="zh-CN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ReLU、Sigmoid）</a:t>
            </a:r>
            <a:r>
              <a:rPr lang="zh-CN" altLang="en-US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引入非线性，损失函数（如交叉熵、</a:t>
            </a:r>
            <a:r>
              <a:rPr lang="en-US" altLang="zh-CN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MSE）</a:t>
            </a:r>
            <a:r>
              <a:rPr lang="zh-CN" altLang="en-US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度量预测偏差，优化器（如</a:t>
            </a:r>
            <a:r>
              <a:rPr lang="en-US" altLang="zh-CN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SGD、Adam）</a:t>
            </a:r>
            <a:r>
              <a:rPr lang="zh-CN" altLang="en-US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驱动参数沿梯度下降方向迭代。理解梯度消失/爆炸与学习率调参同样关键。建议从全连接网络起步，逐步实验不同结构，并结合</a:t>
            </a:r>
            <a:r>
              <a:rPr lang="en-US" altLang="zh-CN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Tensor</a:t>
            </a:r>
            <a:r>
              <a:rPr lang="zh-CN" altLang="en-US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</a:t>
            </a:r>
            <a:r>
              <a:rPr lang="en-US" altLang="zh-CN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NumPy</a:t>
            </a:r>
            <a:r>
              <a:rPr lang="zh-CN" altLang="en-US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实践，将理论落到实处。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183005" y="2017395"/>
            <a:ext cx="46297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神经网络</a:t>
            </a: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90210" y="1454150"/>
            <a:ext cx="5768340" cy="4546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cap="flat" cmpd="sng">
            <a:solidFill>
              <a:srgbClr val="E6CFCF">
                <a:alpha val="7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理论基础与前置学习</a:t>
            </a:r>
            <a:endParaRPr lang="en-US" sz="1100"/>
          </a:p>
        </p:txBody>
      </p:sp>
      <p:sp>
        <p:nvSpPr>
          <p:cNvPr id="17" name="AutoShape 4"/>
          <p:cNvSpPr/>
          <p:nvPr/>
        </p:nvSpPr>
        <p:spPr>
          <a:xfrm>
            <a:off x="720725" y="145415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理论与代码的实战映射</a:t>
            </a:r>
            <a:endParaRPr lang="en-US" sz="1100"/>
          </a:p>
        </p:txBody>
      </p:sp>
      <p:sp>
        <p:nvSpPr>
          <p:cNvPr id="18" name="AutoShape 6"/>
          <p:cNvSpPr/>
          <p:nvPr>
            <p:custDataLst>
              <p:tags r:id="rId1"/>
            </p:custDataLst>
          </p:nvPr>
        </p:nvSpPr>
        <p:spPr>
          <a:xfrm>
            <a:off x="566420" y="2331085"/>
            <a:ext cx="4284345" cy="335788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457200" algn="l">
              <a:lnSpc>
                <a:spcPct val="108000"/>
              </a:lnSpc>
              <a:defRPr/>
            </a:pPr>
            <a:r>
              <a:rPr lang="zh-CN" altLang="en-US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理论与代码的实战映射是深度学习入门的关键。本阶段围绕张量操作、自动求导机制、神经网络构建及分类器训练四大主题，依托</a:t>
            </a:r>
            <a:r>
              <a:rPr lang="en-US" altLang="zh-CN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Jupyter Notebook</a:t>
            </a:r>
            <a:r>
              <a:rPr lang="zh-CN" altLang="en-US" sz="18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进行交互式实践。每个概念均通过代码实现来验证，从张量创建到反向传播，从网络定义到训练流程，逐步贯通理论推导与工程落地，夯实后续模型开发的基础。</a:t>
            </a: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3665" y="4023995"/>
            <a:ext cx="6324600" cy="1264920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3665" y="2331085"/>
            <a:ext cx="6324600" cy="1264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cap="flat" cmpd="sng">
            <a:solidFill>
              <a:srgbClr val="E6CFCF">
                <a:alpha val="7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395" y="2821305"/>
            <a:ext cx="4542790" cy="377253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" y="207645"/>
            <a:ext cx="5627370" cy="39319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9395" y="314325"/>
            <a:ext cx="4657725" cy="231203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395" y="4424045"/>
            <a:ext cx="5772150" cy="21697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数据准备与工程化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334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18415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18415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自动化获取与规整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23114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kagglehub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实现数据集一键拉取，无需繁琐的手动注册与授权。脚本自动解析文件名完成猫狗分类，并按</a:t>
            </a:r>
            <a:r>
              <a:rPr lang="en-US" sz="14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8:2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比例智能划分训练集与验证集，全流程零人工干预。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3365500"/>
            <a:ext cx="5334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3556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524000" y="35560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动态数据增强策略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16000" y="40259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训练阶段引入多样化增强：随机裁剪缩放（0.7~1.0倍）、随机水平翻转及颜色抖动（亮度/对比度动态调整），有效提升模型对不同视角、光照条件的泛化能力，防止过拟合。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62000" y="5080000"/>
            <a:ext cx="5334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16000" y="52705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524000" y="52705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最终数据集规模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016000" y="57404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猫狗样本数量均衡分布：</a:t>
            </a:r>
            <a:r>
              <a:rPr lang="en-US" sz="14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猫 5011 张 / 狗 5017 张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。充足且均衡的数据量为模型训练提供了坚实基础，确保了分类任务的准确性与稳定性。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350000" y="1651000"/>
            <a:ext cx="5207000" cy="48895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12700" cap="flat" cmpd="sng">
            <a:solidFill>
              <a:srgbClr val="4B5563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6350000" y="1651000"/>
            <a:ext cx="5207000" cy="482600"/>
          </a:xfrm>
          <a:prstGeom prst="roundRect">
            <a:avLst>
              <a:gd name="adj" fmla="val 0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6477000" y="1739900"/>
            <a:ext cx="4953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download_data.py</a:t>
            </a:r>
            <a:endParaRPr lang="en-US" sz="1100"/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7175" y="2247900"/>
            <a:ext cx="4693285" cy="41592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cap="flat" cmpd="sng">
            <a:solidFill>
              <a:srgbClr val="E6CFCF">
                <a:alpha val="7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训练配置与策略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5207000" cy="2095500"/>
          </a:xfrm>
          <a:prstGeom prst="roundRect">
            <a:avLst>
              <a:gd name="adj" fmla="val 0"/>
            </a:avLst>
          </a:prstGeom>
          <a:solidFill>
            <a:srgbClr val="FF8C00">
              <a:alpha val="6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952500" y="16764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核心超参数设定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2222500"/>
            <a:ext cx="254000" cy="254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270000" y="2184400"/>
            <a:ext cx="2222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Adam 优化器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lr=1e-3 | 权重衰减 1e-4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65500" y="2222500"/>
            <a:ext cx="254000" cy="254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3683000" y="2184400"/>
            <a:ext cx="2222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交叉熵损失函数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适配多分类场景，梯度稳定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2500" y="2984500"/>
            <a:ext cx="254000" cy="254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270000" y="2946400"/>
            <a:ext cx="2222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Batch Size: 64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平衡显存负载与收敛速度</a:t>
            </a:r>
            <a:endParaRPr lang="en-US" sz="1100"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65500" y="2984500"/>
            <a:ext cx="254000" cy="254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3683000" y="2946400"/>
            <a:ext cx="2222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 dirty="0" err="1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总轮次</a:t>
            </a:r>
            <a:r>
              <a:rPr lang="en-US" sz="1400" b="1" i="0" u="none" strike="noStrike" dirty="0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: 20 Epochs</a:t>
            </a:r>
            <a:br>
              <a:rPr lang="en-US" sz="1600" b="0" i="0" u="none" strike="noStrike" dirty="0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 dirty="0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单轮40s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，总计约13分钟</a:t>
            </a:r>
            <a:endParaRPr lang="en-US" sz="1100" dirty="0"/>
          </a:p>
        </p:txBody>
      </p:sp>
      <p:sp>
        <p:nvSpPr>
          <p:cNvPr id="14" name="AutoShape 14"/>
          <p:cNvSpPr/>
          <p:nvPr/>
        </p:nvSpPr>
        <p:spPr>
          <a:xfrm>
            <a:off x="762000" y="3937000"/>
            <a:ext cx="5207000" cy="2095500"/>
          </a:xfrm>
          <a:prstGeom prst="roundRect">
            <a:avLst>
              <a:gd name="adj" fmla="val 0"/>
            </a:avLst>
          </a:prstGeom>
          <a:solidFill>
            <a:srgbClr val="FF8C00">
              <a:alpha val="6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952500" y="40894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动态训练与保存策略</a:t>
            </a:r>
            <a:endParaRPr lang="en-US" sz="1100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2500" y="4635500"/>
            <a:ext cx="254000" cy="254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270000" y="4597400"/>
            <a:ext cx="4635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自适应学习率衰减 (ReduceLROnPlateau)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验证损失停滞时自动减半，有效跳出局部最优，提升模型泛化能力。</a:t>
            </a:r>
            <a:endParaRPr lang="en-US" sz="1100"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52500" y="5397500"/>
            <a:ext cx="254000" cy="2540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270000" y="5359400"/>
            <a:ext cx="4635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最优模型快照留存机制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仅保留验证集准确率最高的权重，而非最后一轮，确保上线性能最优。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223000" y="1524000"/>
            <a:ext cx="5207000" cy="4508500"/>
          </a:xfrm>
          <a:prstGeom prst="roundRect">
            <a:avLst>
              <a:gd name="adj" fmla="val 0"/>
            </a:avLst>
          </a:prstGeom>
          <a:solidFill>
            <a:srgbClr val="23272E">
              <a:alpha val="100000"/>
            </a:srgbClr>
          </a:solidFill>
          <a:ln w="12700" cap="flat" cmpd="sng">
            <a:solidFill>
              <a:srgbClr val="FF8C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6223000" y="1524000"/>
            <a:ext cx="5207000" cy="457200"/>
          </a:xfrm>
          <a:prstGeom prst="roundRect">
            <a:avLst>
              <a:gd name="adj" fmla="val 0"/>
            </a:avLst>
          </a:prstGeom>
          <a:solidFill>
            <a:srgbClr val="FF8C00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6413500" y="16002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训练启动脚本示例 (train.py)</a:t>
            </a:r>
            <a:endParaRPr lang="en-US" sz="1100"/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13500" y="2057400"/>
            <a:ext cx="4826000" cy="387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训练结果与曲线分析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84785" y="1665605"/>
            <a:ext cx="6201410" cy="2543175"/>
          </a:xfrm>
          <a:prstGeom prst="roundRect">
            <a:avLst>
              <a:gd name="adj" fmla="val 0"/>
            </a:avLst>
          </a:prstGeom>
          <a:solidFill>
            <a:srgbClr val="F3F4F6">
              <a:alpha val="8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762000" y="4762500"/>
            <a:ext cx="2476500" cy="146050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889000" y="4953000"/>
            <a:ext cx="2222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Loss 显著收敛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从初始</a:t>
            </a:r>
            <a:r>
              <a:rPr lang="en-US" sz="14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0.65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降至</a:t>
            </a:r>
            <a:r>
              <a:rPr lang="en-US" sz="14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0.37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模型学习效率符合预期</a:t>
            </a:r>
          </a:p>
        </p:txBody>
      </p:sp>
      <p:sp>
        <p:nvSpPr>
          <p:cNvPr id="9" name="AutoShape 9"/>
          <p:cNvSpPr/>
          <p:nvPr/>
        </p:nvSpPr>
        <p:spPr>
          <a:xfrm>
            <a:off x="3365500" y="4762500"/>
            <a:ext cx="2476500" cy="146050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3492500" y="4953000"/>
            <a:ext cx="2222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准确率稳步提升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从初始</a:t>
            </a:r>
            <a:r>
              <a:rPr lang="en-US" sz="14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62%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升至</a:t>
            </a:r>
            <a:r>
              <a:rPr lang="en-US" sz="14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84%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模型泛化能力逐步增强</a:t>
            </a:r>
          </a:p>
        </p:txBody>
      </p:sp>
      <p:sp>
        <p:nvSpPr>
          <p:cNvPr id="11" name="AutoShape 11"/>
          <p:cNvSpPr/>
          <p:nvPr/>
        </p:nvSpPr>
        <p:spPr>
          <a:xfrm>
            <a:off x="6624320" y="1831340"/>
            <a:ext cx="5080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78320" y="2199640"/>
            <a:ext cx="457200" cy="4572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7513320" y="1996440"/>
            <a:ext cx="4127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验证集整体准确率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24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84.3%  </a:t>
            </a: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(样本数: 1692 / 2007)</a:t>
            </a:r>
          </a:p>
        </p:txBody>
      </p:sp>
      <p:sp>
        <p:nvSpPr>
          <p:cNvPr id="14" name="AutoShape 14"/>
          <p:cNvSpPr/>
          <p:nvPr/>
        </p:nvSpPr>
        <p:spPr>
          <a:xfrm>
            <a:off x="6624320" y="3291840"/>
            <a:ext cx="5080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78320" y="3660140"/>
            <a:ext cx="457200" cy="4572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513320" y="3456940"/>
            <a:ext cx="4127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猫类识别准确率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24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94.5%  </a:t>
            </a: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(样本数: 948 / 1003)</a:t>
            </a:r>
          </a:p>
        </p:txBody>
      </p:sp>
      <p:sp>
        <p:nvSpPr>
          <p:cNvPr id="17" name="AutoShape 17"/>
          <p:cNvSpPr/>
          <p:nvPr/>
        </p:nvSpPr>
        <p:spPr>
          <a:xfrm>
            <a:off x="6624320" y="4752340"/>
            <a:ext cx="5080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78320" y="5120640"/>
            <a:ext cx="457200" cy="4572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7513320" y="4917440"/>
            <a:ext cx="4127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犬类识别准确率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24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74.1%  </a:t>
            </a: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(样本数: 744 / 1004)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2895" y="1744028"/>
            <a:ext cx="5965190" cy="23863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问题发现与改进方向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07000" cy="1968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76200" cy="1968500"/>
          </a:xfrm>
          <a:prstGeom prst="roundRect">
            <a:avLst>
              <a:gd name="adj" fmla="val 0"/>
            </a:avLst>
          </a:prstGeom>
          <a:solidFill>
            <a:srgbClr val="FF8C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016000" y="1841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偏猫现象：识别率失衡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2349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核心原因在于狗品种间的类内差异显著高于猫，且现有模型保存策略以“总准确率”为单一指标，天然对特征更集中的猫类存在偏向性，导致模型对犬类特征学习不足。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3937000"/>
            <a:ext cx="5207000" cy="19685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FF8C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762000" y="3937000"/>
            <a:ext cx="76200" cy="1968500"/>
          </a:xfrm>
          <a:prstGeom prst="roundRect">
            <a:avLst>
              <a:gd name="adj" fmla="val 0"/>
            </a:avLst>
          </a:prstGeom>
          <a:solidFill>
            <a:srgbClr val="FF8C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1016000" y="4127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验证曲线震荡：收敛不稳定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16000" y="4635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第16轮性能回升并在第20轮达到峰值，随后出现小幅波动。这是小模型架构配合固定学习率的典型特征，直接印证了采用“保存最优模型”而非“最后模型”策略的必要性。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1651000"/>
            <a:ext cx="5080000" cy="2095500"/>
          </a:xfrm>
          <a:prstGeom prst="roundRect">
            <a:avLst>
              <a:gd name="adj" fmla="val 0"/>
            </a:avLst>
          </a:prstGeom>
          <a:solidFill>
            <a:srgbClr val="F9FAFB">
              <a:alpha val="80000"/>
            </a:srgbClr>
          </a:solidFill>
          <a:ln w="12700" cap="flat" cmpd="sng">
            <a:solidFill>
              <a:srgbClr val="FF8C00">
                <a:alpha val="4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604000" y="1905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112000" y="19304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模型验证准确率趋势（Epoch 1-20）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604000" y="2540000"/>
            <a:ext cx="45720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图示：验证集准确率在训练中期出现明显震荡，第12轮达到局部最优，第15轮后趋于平缓。该现象表明模型仍有优化潜力，需调整训练策略以增强稳定性。</a:t>
            </a:r>
            <a:endParaRPr lang="en-US" sz="1100"/>
          </a:p>
        </p:txBody>
      </p:sp>
      <p:sp>
        <p:nvSpPr>
          <p:cNvPr id="16" name="AutoShape 16"/>
          <p:cNvSpPr/>
          <p:nvPr>
            <p:custDataLst>
              <p:tags r:id="rId1"/>
            </p:custDataLst>
          </p:nvPr>
        </p:nvSpPr>
        <p:spPr>
          <a:xfrm>
            <a:off x="6350000" y="4064000"/>
            <a:ext cx="1600200" cy="215011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02400" y="42545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>
            <p:custDataLst>
              <p:tags r:id="rId3"/>
            </p:custDataLst>
          </p:nvPr>
        </p:nvSpPr>
        <p:spPr>
          <a:xfrm>
            <a:off x="6502400" y="4699000"/>
            <a:ext cx="1397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增加训练轮数</a:t>
            </a:r>
            <a:endParaRPr lang="en-US" sz="1100"/>
          </a:p>
        </p:txBody>
      </p:sp>
      <p:sp>
        <p:nvSpPr>
          <p:cNvPr id="19" name="AutoShape 19"/>
          <p:cNvSpPr/>
          <p:nvPr>
            <p:custDataLst>
              <p:tags r:id="rId4"/>
            </p:custDataLst>
          </p:nvPr>
        </p:nvSpPr>
        <p:spPr>
          <a:xfrm>
            <a:off x="6502400" y="51435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延长训练周期，确保模型特征提取充分，减少因过早停止导致的欠拟合风险。</a:t>
            </a:r>
            <a:endParaRPr lang="en-US" sz="1100"/>
          </a:p>
        </p:txBody>
      </p:sp>
      <p:sp>
        <p:nvSpPr>
          <p:cNvPr id="20" name="AutoShape 20"/>
          <p:cNvSpPr/>
          <p:nvPr>
            <p:custDataLst>
              <p:tags r:id="rId5"/>
            </p:custDataLst>
          </p:nvPr>
        </p:nvSpPr>
        <p:spPr>
          <a:xfrm>
            <a:off x="8089900" y="4064000"/>
            <a:ext cx="1600200" cy="2150745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242300" y="4254500"/>
            <a:ext cx="304800" cy="304800"/>
          </a:xfrm>
          <a:prstGeom prst="rect">
            <a:avLst/>
          </a:prstGeom>
        </p:spPr>
      </p:pic>
      <p:sp>
        <p:nvSpPr>
          <p:cNvPr id="22" name="AutoShape 22"/>
          <p:cNvSpPr/>
          <p:nvPr>
            <p:custDataLst>
              <p:tags r:id="rId7"/>
            </p:custDataLst>
          </p:nvPr>
        </p:nvSpPr>
        <p:spPr>
          <a:xfrm>
            <a:off x="8242300" y="4699000"/>
            <a:ext cx="1397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升级网络架构</a:t>
            </a:r>
            <a:endParaRPr lang="en-US" sz="1100"/>
          </a:p>
        </p:txBody>
      </p:sp>
      <p:sp>
        <p:nvSpPr>
          <p:cNvPr id="23" name="AutoShape 23"/>
          <p:cNvSpPr/>
          <p:nvPr>
            <p:custDataLst>
              <p:tags r:id="rId8"/>
            </p:custDataLst>
          </p:nvPr>
        </p:nvSpPr>
        <p:spPr>
          <a:xfrm>
            <a:off x="8242300" y="51435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引入ResNet等深层网络或迁移学习，提升模型对复杂特征的捕捉能力。</a:t>
            </a:r>
            <a:endParaRPr lang="en-US" sz="1100"/>
          </a:p>
        </p:txBody>
      </p:sp>
      <p:sp>
        <p:nvSpPr>
          <p:cNvPr id="24" name="AutoShape 24"/>
          <p:cNvSpPr/>
          <p:nvPr>
            <p:custDataLst>
              <p:tags r:id="rId9"/>
            </p:custDataLst>
          </p:nvPr>
        </p:nvSpPr>
        <p:spPr>
          <a:xfrm>
            <a:off x="9779000" y="4063365"/>
            <a:ext cx="1600200" cy="215138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982200" y="42545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>
            <p:custDataLst>
              <p:tags r:id="rId11"/>
            </p:custDataLst>
          </p:nvPr>
        </p:nvSpPr>
        <p:spPr>
          <a:xfrm>
            <a:off x="9982200" y="4699000"/>
            <a:ext cx="1397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数据增强重采</a:t>
            </a:r>
            <a:endParaRPr lang="en-US" sz="1100"/>
          </a:p>
        </p:txBody>
      </p:sp>
      <p:sp>
        <p:nvSpPr>
          <p:cNvPr id="27" name="AutoShape 27"/>
          <p:cNvSpPr/>
          <p:nvPr>
            <p:custDataLst>
              <p:tags r:id="rId12"/>
            </p:custDataLst>
          </p:nvPr>
        </p:nvSpPr>
        <p:spPr>
          <a:xfrm>
            <a:off x="9982200" y="5143500"/>
            <a:ext cx="139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针对狗类样本进行针对性的数据增强与重采样，平衡类别间的数据分布。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项目总结与学习收获</a:t>
            </a:r>
            <a:endParaRPr lang="en-US" sz="1100"/>
          </a:p>
        </p:txBody>
      </p: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762000" y="1651000"/>
            <a:ext cx="5588000" cy="2159000"/>
          </a:xfrm>
          <a:prstGeom prst="roundRect">
            <a:avLst>
              <a:gd name="adj" fmla="val 0"/>
            </a:avLst>
          </a:prstGeom>
          <a:solidFill>
            <a:srgbClr val="FF8C00">
              <a:alpha val="6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762000" y="1651000"/>
            <a:ext cx="76200" cy="2159000"/>
          </a:xfrm>
          <a:prstGeom prst="roundRect">
            <a:avLst>
              <a:gd name="adj" fmla="val 0"/>
            </a:avLst>
          </a:prstGeom>
          <a:solidFill>
            <a:srgbClr val="FF8C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1016000" y="172974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项目亮点回顾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1016000" y="2199640"/>
            <a:ext cx="5143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自动化与可复现：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搭建全自动数据管线，实现环境与结果一键复现，极大降低试错成本。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透明化模型：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纯手写网络结构，拒绝黑盒调用，每一层逻辑清晰可解释。</a:t>
            </a:r>
          </a:p>
          <a:p>
            <a:pPr marL="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工程与规范：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完善随机种子、结果可视化等细节；严格遵循Git Flow协作规范。</a:t>
            </a:r>
          </a:p>
        </p:txBody>
      </p:sp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762000" y="4064000"/>
            <a:ext cx="5588000" cy="2159000"/>
          </a:xfrm>
          <a:prstGeom prst="roundRect">
            <a:avLst>
              <a:gd name="adj" fmla="val 0"/>
            </a:avLst>
          </a:prstGeom>
          <a:solidFill>
            <a:srgbClr val="FF8C00">
              <a:alpha val="6000"/>
            </a:srgbClr>
          </a:solidFill>
          <a:ln w="12700" cap="flat" cmpd="sng">
            <a:solidFill>
              <a:srgbClr val="FF8C0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762000" y="4064000"/>
            <a:ext cx="76200" cy="2159000"/>
          </a:xfrm>
          <a:prstGeom prst="roundRect">
            <a:avLst>
              <a:gd name="adj" fmla="val 0"/>
            </a:avLst>
          </a:prstGeom>
          <a:solidFill>
            <a:srgbClr val="FF8C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>
            <p:custDataLst>
              <p:tags r:id="rId7"/>
            </p:custDataLst>
          </p:nvPr>
        </p:nvSpPr>
        <p:spPr>
          <a:xfrm>
            <a:off x="1016000" y="414274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核心成长与感悟</a:t>
            </a: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8"/>
            </p:custDataLst>
          </p:nvPr>
        </p:nvSpPr>
        <p:spPr>
          <a:xfrm>
            <a:off x="1016000" y="4612640"/>
            <a:ext cx="5143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知行合一：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打通“理论推导→代码实现→结果验证”闭环，透彻理解优化器等机制。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评估进阶：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跳出单一指标陷阱，学会关注类别差异与模型的实际鲁棒性。</a:t>
            </a:r>
          </a:p>
          <a:p>
            <a:pPr marL="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协作基石：</a:t>
            </a: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深刻体会到规范的版本管理与沟通是高效团队研发的关键保障。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rcRect l="104" r="104"/>
          <a:stretch>
            <a:fillRect/>
          </a:stretch>
        </p:blipFill>
        <p:spPr>
          <a:xfrm>
            <a:off x="7048500" y="2095500"/>
            <a:ext cx="4318000" cy="2882900"/>
          </a:xfrm>
          <a:prstGeom prst="roundRect">
            <a:avLst>
              <a:gd name="adj" fmla="val 7048"/>
            </a:avLst>
          </a:prstGeom>
          <a:noFill/>
          <a:ln w="25400" cap="flat" cmpd="sng">
            <a:noFill/>
            <a:prstDash val="solid"/>
            <a:round/>
          </a:ln>
          <a:effectLst>
            <a:outerShdw blurRad="203200" dist="76200" dir="2700000" algn="tl" rotWithShape="0">
              <a:srgbClr val="000000">
                <a:alpha val="12000"/>
              </a:srgbClr>
            </a:outerShdw>
          </a:effectLst>
        </p:spPr>
      </p:pic>
      <p:sp>
        <p:nvSpPr>
          <p:cNvPr id="13" name="AutoShape 13"/>
          <p:cNvSpPr/>
          <p:nvPr/>
        </p:nvSpPr>
        <p:spPr>
          <a:xfrm>
            <a:off x="7048500" y="5207000"/>
            <a:ext cx="4318000" cy="889000"/>
          </a:xfrm>
          <a:prstGeom prst="roundRect">
            <a:avLst>
              <a:gd name="adj" fmla="val 0"/>
            </a:avLst>
          </a:prstGeom>
          <a:solidFill>
            <a:srgbClr val="FF8C0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7175500" y="5359400"/>
            <a:ext cx="406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7000"/>
              </a:lnSpc>
              <a:defRPr/>
            </a:pPr>
            <a:r>
              <a:rPr lang="en-US" sz="15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 保持对技术的热爱，像小动物一样永远充满好奇与活力。”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3"/>
          <p:cNvSpPr/>
          <p:nvPr/>
        </p:nvSpPr>
        <p:spPr>
          <a:xfrm>
            <a:off x="3145790" y="1524000"/>
            <a:ext cx="522224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sz="48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</a:t>
            </a:r>
            <a:r>
              <a:rPr lang="en-US" altLang="zh-CN" sz="48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  </a:t>
            </a:r>
            <a:r>
              <a:rPr lang="zh-CN" altLang="en-US" sz="48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谢</a:t>
            </a:r>
            <a:r>
              <a:rPr lang="en-US" altLang="zh-CN" sz="48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  </a:t>
            </a:r>
            <a:r>
              <a:rPr lang="zh-CN" altLang="en-US" sz="48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聆</a:t>
            </a:r>
            <a:r>
              <a:rPr lang="en-US" altLang="zh-CN" sz="48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  </a:t>
            </a:r>
            <a:r>
              <a:rPr lang="zh-CN" altLang="en-US" sz="48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听</a:t>
            </a:r>
          </a:p>
        </p:txBody>
      </p:sp>
      <p:sp>
        <p:nvSpPr>
          <p:cNvPr id="17" name="AutoShape 5"/>
          <p:cNvSpPr/>
          <p:nvPr>
            <p:custDataLst>
              <p:tags r:id="rId1"/>
            </p:custDataLst>
          </p:nvPr>
        </p:nvSpPr>
        <p:spPr>
          <a:xfrm>
            <a:off x="1697990" y="2992120"/>
            <a:ext cx="3302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8C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6"/>
          <p:cNvSpPr/>
          <p:nvPr>
            <p:custDataLst>
              <p:tags r:id="rId2"/>
            </p:custDataLst>
          </p:nvPr>
        </p:nvSpPr>
        <p:spPr>
          <a:xfrm>
            <a:off x="1888490" y="315722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✦ 汇报小组</a:t>
            </a:r>
          </a:p>
        </p:txBody>
      </p:sp>
      <p:sp>
        <p:nvSpPr>
          <p:cNvPr id="19" name="AutoShape 7"/>
          <p:cNvSpPr/>
          <p:nvPr>
            <p:custDataLst>
              <p:tags r:id="rId3"/>
            </p:custDataLst>
          </p:nvPr>
        </p:nvSpPr>
        <p:spPr>
          <a:xfrm>
            <a:off x="1888490" y="3589020"/>
            <a:ext cx="292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7000"/>
              </a:lnSpc>
              <a:defRPr/>
            </a:pPr>
            <a:r>
              <a:rPr lang="en-US" sz="1800" b="1" i="0" u="none" strike="noStrike">
                <a:solidFill>
                  <a:schemeClr val="tx1">
                    <a:alpha val="85098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苏致远 / 吴多迅 / 魏龙飞</a:t>
            </a:r>
          </a:p>
        </p:txBody>
      </p:sp>
      <p:sp>
        <p:nvSpPr>
          <p:cNvPr id="23" name="AutoShape 11"/>
          <p:cNvSpPr/>
          <p:nvPr>
            <p:custDataLst>
              <p:tags r:id="rId4"/>
            </p:custDataLst>
          </p:nvPr>
        </p:nvSpPr>
        <p:spPr>
          <a:xfrm>
            <a:off x="6889115" y="2992120"/>
            <a:ext cx="33020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8C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12"/>
          <p:cNvSpPr/>
          <p:nvPr>
            <p:custDataLst>
              <p:tags r:id="rId5"/>
            </p:custDataLst>
          </p:nvPr>
        </p:nvSpPr>
        <p:spPr>
          <a:xfrm>
            <a:off x="7079615" y="315722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✦ 报告日期</a:t>
            </a:r>
          </a:p>
        </p:txBody>
      </p:sp>
      <p:sp>
        <p:nvSpPr>
          <p:cNvPr id="25" name="AutoShape 13"/>
          <p:cNvSpPr/>
          <p:nvPr>
            <p:custDataLst>
              <p:tags r:id="rId6"/>
            </p:custDataLst>
          </p:nvPr>
        </p:nvSpPr>
        <p:spPr>
          <a:xfrm>
            <a:off x="7079615" y="3589020"/>
            <a:ext cx="292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7000"/>
              </a:lnSpc>
              <a:defRPr/>
            </a:pPr>
            <a:r>
              <a:rPr lang="en-US" sz="1800" b="1" i="0" u="none" strike="noStrike">
                <a:solidFill>
                  <a:schemeClr val="tx1">
                    <a:alpha val="85098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2026年8月15日</a:t>
            </a:r>
          </a:p>
        </p:txBody>
      </p:sp>
      <p:sp>
        <p:nvSpPr>
          <p:cNvPr id="27" name="AutoShape 11"/>
          <p:cNvSpPr/>
          <p:nvPr>
            <p:custDataLst>
              <p:tags r:id="rId7"/>
            </p:custDataLst>
          </p:nvPr>
        </p:nvSpPr>
        <p:spPr>
          <a:xfrm>
            <a:off x="1697990" y="4655820"/>
            <a:ext cx="8493125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"/>
            </a:srgbClr>
          </a:solidFill>
          <a:ln w="12700" cap="flat" cmpd="sng">
            <a:solidFill>
              <a:srgbClr val="FF8C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12"/>
          <p:cNvSpPr/>
          <p:nvPr>
            <p:custDataLst>
              <p:tags r:id="rId8"/>
            </p:custDataLst>
          </p:nvPr>
        </p:nvSpPr>
        <p:spPr>
          <a:xfrm>
            <a:off x="1888490" y="4820920"/>
            <a:ext cx="7840345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✦ </a:t>
            </a:r>
            <a:r>
              <a:rPr lang="zh-CN" altLang="en-US" sz="2000" b="1" i="0" u="none" strike="noStrike">
                <a:solidFill>
                  <a:srgbClr val="FF8C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项目代码</a:t>
            </a:r>
          </a:p>
        </p:txBody>
      </p:sp>
      <p:sp>
        <p:nvSpPr>
          <p:cNvPr id="29" name="AutoShape 13"/>
          <p:cNvSpPr/>
          <p:nvPr>
            <p:custDataLst>
              <p:tags r:id="rId9"/>
            </p:custDataLst>
          </p:nvPr>
        </p:nvSpPr>
        <p:spPr>
          <a:xfrm>
            <a:off x="1888490" y="5252720"/>
            <a:ext cx="7513955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7000"/>
              </a:lnSpc>
              <a:defRPr/>
            </a:pPr>
            <a:r>
              <a:rPr lang="en-US" altLang="zh-CN" sz="1800" b="1" i="0" u="none" strike="noStrike">
                <a:solidFill>
                  <a:schemeClr val="tx1">
                    <a:alpha val="85098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https://github.com/Stevelikesfruits/Cat-dog-visual-recognization.git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7,&quot;left&quot;:49.6,&quot;top&quot;:126,&quot;width&quot;:420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7,&quot;left&quot;:49.6,&quot;top&quot;:126,&quot;width&quot;:420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7,&quot;left&quot;:49.6,&quot;top&quot;:126,&quot;width&quot;:420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7,&quot;left&quot;:49.6,&quot;top&quot;:126,&quot;width&quot;:420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7,&quot;left&quot;:49.6,&quot;top&quot;:126,&quot;width&quot;:420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7,&quot;left&quot;:49.6,&quot;top&quot;:126,&quot;width&quot;:420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7,&quot;left&quot;:49.6,&quot;top&quot;:126,&quot;width&quot;:420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7,&quot;left&quot;:49.6,&quot;top&quot;:126,&quot;width&quot;:420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55.7,&quot;left&quot;:49.6,&quot;top&quot;:126,&quot;width&quot;:420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9.4,&quot;left&quot;:60,&quot;top&quot;:210,&quot;width&quot;:838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1.8,&quot;left&quot;:32.1,&quot;top&quot;:107,&quot;width&quot;:448.65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8,&quot;left&quot;:60,&quot;top&quot;:16,&quot;width&quot;:424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8,&quot;left&quot;:55.95,&quot;top&quot;:16,&quot;width&quot;:428.05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1.8,&quot;left&quot;:32.1,&quot;top&quot;:107,&quot;width&quot;:448.65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1.8,&quot;left&quot;:32.1,&quot;top&quot;:107,&quot;width&quot;:448.65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69.4,&quot;left&quot;:500,&quot;top&quot;:319.95,&quot;width&quot;:400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0,&quot;left&quot;:60,&quot;top&quot;:130,&quot;width&quot;:440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0,&quot;left&quot;:60,&quot;top&quot;:130,&quot;width&quot;:440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0,&quot;left&quot;:60,&quot;top&quot;:130,&quot;width&quot;:440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0,&quot;left&quot;:60,&quot;top&quot;:130,&quot;width&quot;:440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0,&quot;left&quot;:60,&quot;top&quot;:130,&quot;width&quot;:440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0,&quot;left&quot;:60,&quot;top&quot;:130,&quot;width&quot;:440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0,&quot;left&quot;:60,&quot;top&quot;:130,&quot;width&quot;:440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60,&quot;left&quot;:60,&quot;top&quot;:130,&quot;width&quot;:440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5.4,&quot;left&quot;:80,&quot;top&quot;:59.6,&quot;width&quot;:838.9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5.4,&quot;left&quot;:80,&quot;top&quot;:59.6,&quot;width&quot;:838.9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5.4,&quot;left&quot;:80,&quot;top&quot;:59.6,&quot;width&quot;:838.9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5.4,&quot;left&quot;:80,&quot;top&quot;:59.6,&quot;width&quot;:838.9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5.4,&quot;left&quot;:80,&quot;top&quot;:59.6,&quot;width&quot;:838.9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75.4,&quot;left&quot;:80,&quot;top&quot;:59.6,&quot;width&quot;:838.9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00,&quot;left&quot;:80,&quot;top&quot;:335,&quot;width&quot;:80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7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8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6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1285</Words>
  <Application>Microsoft Office PowerPoint</Application>
  <PresentationFormat>宽屏</PresentationFormat>
  <Paragraphs>186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9</vt:i4>
      </vt:variant>
      <vt:variant>
        <vt:lpstr>幻灯片标题</vt:lpstr>
      </vt:variant>
      <vt:variant>
        <vt:i4>18</vt:i4>
      </vt:variant>
    </vt:vector>
  </HeadingPairs>
  <TitlesOfParts>
    <vt:vector size="29" baseType="lpstr">
      <vt:lpstr>Noto Sans SC</vt:lpstr>
      <vt:lpstr>Arial</vt:lpstr>
      <vt:lpstr>Office 主题​​</vt:lpstr>
      <vt:lpstr>默认主题</vt:lpstr>
      <vt:lpstr>1_默认主题</vt:lpstr>
      <vt:lpstr>2_默认主题</vt:lpstr>
      <vt:lpstr>3_默认主题</vt:lpstr>
      <vt:lpstr>4_默认主题</vt:lpstr>
      <vt:lpstr>7_默认主题</vt:lpstr>
      <vt:lpstr>8_默认主题</vt:lpstr>
      <vt:lpstr>6_默认主题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魏 龙飞</cp:lastModifiedBy>
  <cp:revision>11</cp:revision>
  <dcterms:created xsi:type="dcterms:W3CDTF">2026-08-18T11:12:00Z</dcterms:created>
  <dcterms:modified xsi:type="dcterms:W3CDTF">2026-08-19T09:48:36Z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{"Label":"1","ContentProducer":"001191110102MACQD9K64010000","ProduceID":"7675298500812819743","ReservedCode1":"","ContentPropagator":"","PropagateID":"","ReservedCode2":""}</vt:lpwstr>
  </property>
  <property fmtid="{D5CDD505-2E9C-101B-9397-08002B2CF9AE}" pid="3" name="KSOProductBuildVer">
    <vt:lpwstr>2052-12.1.0.28043</vt:lpwstr>
  </property>
  <property fmtid="{D5CDD505-2E9C-101B-9397-08002B2CF9AE}" pid="4" name="ICV">
    <vt:lpwstr>D536D2A72F734ADBBC3D948E7FB7C7BA_13</vt:lpwstr>
  </property>
</Properties>
</file>